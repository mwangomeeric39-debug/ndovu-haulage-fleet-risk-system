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rchitecture" id="{0b9c2f7a-161f-d001-960e-9952483bc7fe}">
          <p14:sldIdLst>
            <p14:sldId id="256"/>
          </p14:sldIdLst>
        </p14:section>
        <p14:section name="The problem" id="{a827683f-2319-a39f-fda0-e708a27f11e5}">
          <p14:sldIdLst>
            <p14:sldId id="257"/>
            <p14:sldId id="258"/>
            <p14:sldId id="259"/>
            <p14:sldId id="260"/>
            <p14:sldId id="261"/>
          </p14:sldIdLst>
        </p14:section>
        <p14:section name="AI and scope" id="{2dbe1e50-11dd-1279-6460-4b63f7e0a8c3}">
          <p14:sldIdLst>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cost USD</c:v>
                </c:pt>
              </c:strCache>
            </c:strRef>
          </c:tx>
          <c:spPr>
            <a:solidFill>
              <a:srgbClr val="4A90D9"/>
            </a:solidFill>
            <a:effectLst/>
          </c:spPr>
          <c:invertIfNegative val="0"/>
          <c:dLbls>
            <c:numFmt formatCode="$#,##0" sourceLinked="0"/>
            <c:txPr>
              <a:bodyPr/>
              <a:lstStyle/>
              <a:p>
                <a:pPr>
                  <a:defRPr b="1" i="0" strike="noStrike" sz="1400" u="none">
                    <a:solidFill>
                      <a:srgbClr val="0E141B"/>
                    </a:solidFill>
                    <a:latin typeface="+mn-lt"/>
                  </a:defRPr>
                </a:pPr>
              </a:p>
            </c:txPr>
            <c:showLegendKey val="0"/>
            <c:showVal val="1"/>
            <c:showCatName val="0"/>
            <c:showSerName val="0"/>
            <c:showPercent val="0"/>
            <c:showBubbleSize val="0"/>
            <c:showLeaderLines val="0"/>
          </c:dLbls>
          <c:dPt>
            <c:idx val="0"/>
            <c:invertIfNegative val="0"/>
            <c:bubble3D val="0"/>
            <c:spPr>
              <a:solidFill>
                <a:srgbClr val="4A90D9"/>
              </a:solidFill>
              <a:effectLst/>
            </c:spPr>
          </c:dPt>
          <c:dPt>
            <c:idx val="1"/>
            <c:invertIfNegative val="0"/>
            <c:bubble3D val="0"/>
            <c:spPr>
              <a:solidFill>
                <a:srgbClr val="E4572E"/>
              </a:solidFill>
              <a:effectLst/>
            </c:spPr>
          </c:dPt>
          <c:cat>
            <c:multiLvlStrRef>
              <c:f>Sheet1!$A$2:$A$3</c:f>
              <c:multiLvlStrCache>
                <c:ptCount val="2"/>
                <c:lvl>
                  <c:pt idx="0">
                    <c:v>Planned service</c:v>
                  </c:pt>
                  <c:pt idx="1">
                    <c:v>Emergency breakdown</c:v>
                  </c:pt>
                </c:lvl>
              </c:multiLvlStrCache>
            </c:multiLvlStrRef>
          </c:cat>
          <c:val>
            <c:numRef>
              <c:f>Sheet1!$B$2:$B$3</c:f>
              <c:numCache>
                <c:formatCode>General</c:formatCode>
                <c:ptCount val="2"/>
                <c:pt idx="0">
                  <c:v>708</c:v>
                </c:pt>
                <c:pt idx="1">
                  <c:v>3632</c:v>
                </c:pt>
              </c:numCache>
            </c:numRef>
          </c:val>
        </c:ser>
        <c:dLbls>
          <c:numFmt formatCode="$#,##0" sourceLinked="0"/>
          <c:txPr>
            <a:bodyPr/>
            <a:lstStyle/>
            <a:p>
              <a:pPr>
                <a:defRPr b="1" i="0" strike="noStrike" sz="1400" u="none">
                  <a:solidFill>
                    <a:srgbClr val="0E141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E141B"/>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operational data lands in Databricks (Bronze, Silver, Gold). A SQL engine turns Gold tables into four risk types. Power BI shows the picture; n8n reads new or unresolved risk records, asks Gemini to explain each one from the supplied evidence, and sends an email. People decide and the outcome is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a 40-truck fleet, 48 drivers, 8 corridors. The data exists, but it is not joined or interpreted in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Trucks run the Northern Corridor and regional routes. Perishables and containers carry SLA penalties by the hour, so every delay has a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come from the Ndovu demo dataset (one quarter, 40 trucks). Emergency repairs include parts, labour and recovery. The SLA penalty total covers all late 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sensor reconciliation, none of this is visible until invoices land and the month is closed. Figures are from the demo dataset where theft patterns were planted for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exists, but it is a portal people have to remember to open. The dispatcher assigns trips from the TMS, which knows nothing about open fault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Gemini is the explanation layer. It receives only the evidence the SQL rules produced and drafts a plain-language brief with next steps. If Gemini is unavailable, a rule-based email still goes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are design goals for the programme, to be validated against the baseline once real data is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47120" cy="914400"/>
          </a:xfrm>
          <a:prstGeom prst="rect">
            <a:avLst/>
          </a:prstGeom>
          <a:noFill/>
          <a:ln/>
        </p:spPr>
        <p:txBody>
          <a:bodyPr wrap="square" rtlCol="0"/>
          <a:lstStyle>
            <a:lvl1pPr algn="l" indent="0" marL="0">
              <a:buNone/>
              <a:defRPr lang="en-US" sz="3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rgbClr val="8FA3B8"/>
                </a:solidFill>
                <a:latin typeface="Calibri" pitchFamily="34" charset="0"/>
                <a:ea typeface="Calibri" pitchFamily="34" charset="-122"/>
                <a:cs typeface="Calibri" pitchFamily="34" charset="-120"/>
              </a:rPr>
              <a:t>NDOVU HAULAGE LTD  |  FLEET RISK COMMAND CENTRE  |  PROBLEM STATEMENT</a:t>
            </a:r>
            <a:endParaRPr lang="en-US" sz="10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47120" cy="914400"/>
          </a:xfrm>
          <a:prstGeom prst="rect">
            <a:avLst/>
          </a:prstGeom>
          <a:noFill/>
          <a:ln/>
        </p:spPr>
        <p:txBody>
          <a:bodyPr wrap="square" rtlCol="0"/>
          <a:lstStyle>
            <a:lvl1pPr algn="l" indent="0" marL="0">
              <a:buNone/>
              <a:defRPr lang="en-US" sz="3000" b="1" dirty="0">
                <a:solidFill>
                  <a:srgbClr val="0E141B"/>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rgbClr val="7A8794"/>
                </a:solidFill>
                <a:latin typeface="Calibri" pitchFamily="34" charset="0"/>
                <a:ea typeface="Calibri" pitchFamily="34" charset="-122"/>
                <a:cs typeface="Calibri" pitchFamily="34" charset="-120"/>
              </a:rPr>
              <a:t>NDOVU HAULAGE LTD  |  FLEET RISK COMMAND CENTRE  |  PROBLEM STATEMENT</a:t>
            </a:r>
            <a:endParaRPr lang="en-US" sz="10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300" kern="0" dirty="0">
                <a:solidFill>
                  <a:srgbClr val="F2A900"/>
                </a:solidFill>
                <a:latin typeface="Calibri" pitchFamily="34" charset="0"/>
                <a:ea typeface="Calibri" pitchFamily="34" charset="-122"/>
                <a:cs typeface="Calibri" pitchFamily="34" charset="-120"/>
              </a:rPr>
              <a:t>NDOVU HAULAGE LTD  |  FLEET RISK COMMAND CENTRE</a:t>
            </a:r>
            <a:endParaRPr lang="en-US" sz="1200" dirty="0"/>
          </a:p>
        </p:txBody>
      </p:sp>
      <p:sp>
        <p:nvSpPr>
          <p:cNvPr id="3" name="Text 0"/>
          <p:cNvSpPr/>
          <p:nvPr>
            <p:ph idx="100" type="title" hasCustomPrompt="1"/>
          </p:nvPr>
        </p:nvSpPr>
        <p:spPr>
          <a:xfrm>
            <a:off x="457200" y="566928"/>
            <a:ext cx="11247120" cy="914400"/>
          </a:xfrm>
          <a:prstGeom prst="rect">
            <a:avLst/>
          </a:prstGeom>
          <a:noFill/>
          <a:ln/>
        </p:spPr>
        <p:txBody>
          <a:bodyPr wrap="square" lIns="0" tIns="0" rIns="0" bIns="0" rtlCol="0" anchor="t"/>
          <a:lstStyle/>
          <a:p>
            <a:pPr algn="l" indent="0" marL="0">
              <a:buNone/>
            </a:pPr>
            <a:r>
              <a:rPr lang="en-US" sz="3000" b="1" dirty="0">
                <a:solidFill>
                  <a:srgbClr val="FFFFFF"/>
                </a:solidFill>
                <a:latin typeface="Cambria" pitchFamily="34" charset="0"/>
                <a:ea typeface="Cambria" pitchFamily="34" charset="-122"/>
                <a:cs typeface="Cambria" pitchFamily="34" charset="-120"/>
              </a:rPr>
              <a:t>End-to-end architecture</a:t>
            </a:r>
            <a:endParaRPr lang="en-US" sz="3000" dirty="0"/>
          </a:p>
        </p:txBody>
      </p:sp>
      <p:sp>
        <p:nvSpPr>
          <p:cNvPr id="4" name="stage1"/>
          <p:cNvSpPr/>
          <p:nvPr/>
        </p:nvSpPr>
        <p:spPr>
          <a:xfrm>
            <a:off x="457200" y="1371600"/>
            <a:ext cx="2468880" cy="2468880"/>
          </a:xfrm>
          <a:prstGeom prst="roundRect">
            <a:avLst>
              <a:gd name="adj" fmla="val 4444"/>
            </a:avLst>
          </a:prstGeom>
          <a:solidFill>
            <a:srgbClr val="1F2B39"/>
          </a:solidFill>
          <a:ln w="9525">
            <a:solidFill>
              <a:srgbClr val="33465A"/>
            </a:solidFill>
            <a:prstDash val="solid"/>
          </a:ln>
          <a:effectLst>
            <a:outerShdw sx="100000" sy="100000" kx="0" ky="0" algn="bl" rotWithShape="0" blurRad="101600" dist="25400" dir="5400000">
              <a:srgbClr val="000000">
                <a:alpha val="22000"/>
              </a:srgbClr>
            </a:outerShdw>
          </a:effectLst>
        </p:spPr>
      </p:sp>
      <p:sp>
        <p:nvSpPr>
          <p:cNvPr id="5" name="badge"/>
          <p:cNvSpPr/>
          <p:nvPr/>
        </p:nvSpPr>
        <p:spPr>
          <a:xfrm>
            <a:off x="621792" y="1536192"/>
            <a:ext cx="384048" cy="384048"/>
          </a:xfrm>
          <a:prstGeom prst="ellipse">
            <a:avLst/>
          </a:prstGeom>
          <a:solidFill>
            <a:srgbClr val="F2A900"/>
          </a:solidFill>
          <a:ln w="6350">
            <a:solidFill>
              <a:srgbClr val="F2A900"/>
            </a:solidFill>
            <a:prstDash val="solid"/>
          </a:ln>
        </p:spPr>
      </p:sp>
      <p:sp>
        <p:nvSpPr>
          <p:cNvPr id="6" name="Text 4"/>
          <p:cNvSpPr txBox="1"/>
          <p:nvPr/>
        </p:nvSpPr>
        <p:spPr>
          <a:xfrm>
            <a:off x="621792" y="1536192"/>
            <a:ext cx="384048" cy="384048"/>
          </a:xfrm>
          <a:prstGeom prst="rect">
            <a:avLst/>
          </a:prstGeom>
          <a:noFill/>
          <a:ln/>
        </p:spPr>
        <p:txBody>
          <a:bodyPr wrap="square" lIns="0" tIns="0" rIns="0" bIns="0" rtlCol="0" anchor="ctr"/>
          <a:lstStyle/>
          <a:p>
            <a:pPr algn="ctr" indent="0" marL="0">
              <a:buNone/>
            </a:pPr>
            <a:r>
              <a:rPr lang="en-US" sz="1300" b="1" dirty="0">
                <a:solidFill>
                  <a:srgbClr val="0E141B"/>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097280" y="1499616"/>
            <a:ext cx="1143000" cy="4754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Operational Data Sources</a:t>
            </a:r>
            <a:endParaRPr lang="en-US" sz="1400" dirty="0"/>
          </a:p>
        </p:txBody>
      </p:sp>
      <p:sp>
        <p:nvSpPr>
          <p:cNvPr id="8" name="iconcircle"/>
          <p:cNvSpPr/>
          <p:nvPr/>
        </p:nvSpPr>
        <p:spPr>
          <a:xfrm>
            <a:off x="2395728" y="1517904"/>
            <a:ext cx="384048" cy="384048"/>
          </a:xfrm>
          <a:prstGeom prst="ellipse">
            <a:avLst/>
          </a:prstGeom>
          <a:solidFill>
            <a:srgbClr val="F2A900">
              <a:alpha val="15000"/>
            </a:srgbClr>
          </a:solidFill>
          <a:ln w="6350">
            <a:solidFill>
              <a:srgbClr val="F2A900">
                <a:alpha val="15000"/>
              </a:srgbClr>
            </a:solidFill>
            <a:prstDash val="solid"/>
          </a:ln>
        </p:spPr>
      </p:sp>
      <p:pic>
        <p:nvPicPr>
          <p:cNvPr id="9" name="Image 0" descr="FaTruck">    </p:cNvPr>
          <p:cNvPicPr>
            <a:picLocks noChangeAspect="1"/>
          </p:cNvPicPr>
          <p:nvPr/>
        </p:nvPicPr>
        <p:blipFill>
          <a:blip r:embed="rId1"/>
          <a:stretch>
            <a:fillRect/>
          </a:stretch>
        </p:blipFill>
        <p:spPr>
          <a:xfrm>
            <a:off x="2487900" y="1610076"/>
            <a:ext cx="199705" cy="199705"/>
          </a:xfrm>
          <a:prstGeom prst="rect">
            <a:avLst/>
          </a:prstGeom>
        </p:spPr>
      </p:pic>
      <p:sp>
        <p:nvSpPr>
          <p:cNvPr id="10" name="Text 7"/>
          <p:cNvSpPr txBox="1"/>
          <p:nvPr/>
        </p:nvSpPr>
        <p:spPr>
          <a:xfrm>
            <a:off x="640080" y="2148840"/>
            <a:ext cx="2103120" cy="15544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C9D3DE"/>
                </a:solidFill>
                <a:latin typeface="Calibri" pitchFamily="34" charset="0"/>
                <a:ea typeface="Calibri" pitchFamily="34" charset="-122"/>
                <a:cs typeface="Calibri" pitchFamily="34" charset="-120"/>
              </a:rPr>
              <a:t>Vehicle maintenance logs</a:t>
            </a:r>
            <a:endParaRPr lang="en-US" sz="1300" dirty="0"/>
          </a:p>
          <a:p>
            <a:pPr marL="177800" indent="-177800">
              <a:spcAft>
                <a:spcPts val="500"/>
              </a:spcAft>
              <a:buSzPct val="100000"/>
              <a:buChar char="•"/>
            </a:pPr>
            <a:r>
              <a:rPr lang="en-US" sz="1300" dirty="0">
                <a:solidFill>
                  <a:srgbClr val="C9D3DE"/>
                </a:solidFill>
                <a:latin typeface="Calibri" pitchFamily="34" charset="0"/>
                <a:ea typeface="Calibri" pitchFamily="34" charset="-122"/>
                <a:cs typeface="Calibri" pitchFamily="34" charset="-120"/>
              </a:rPr>
              <a:t>Fuel transactions</a:t>
            </a:r>
            <a:endParaRPr lang="en-US" sz="1300" dirty="0"/>
          </a:p>
          <a:p>
            <a:pPr marL="177800" indent="-177800">
              <a:spcAft>
                <a:spcPts val="500"/>
              </a:spcAft>
              <a:buSzPct val="100000"/>
              <a:buChar char="•"/>
            </a:pPr>
            <a:r>
              <a:rPr lang="en-US" sz="1300" dirty="0">
                <a:solidFill>
                  <a:srgbClr val="C9D3DE"/>
                </a:solidFill>
                <a:latin typeface="Calibri" pitchFamily="34" charset="0"/>
                <a:ea typeface="Calibri" pitchFamily="34" charset="-122"/>
                <a:cs typeface="Calibri" pitchFamily="34" charset="-120"/>
              </a:rPr>
              <a:t>GPS / telematics</a:t>
            </a:r>
            <a:endParaRPr lang="en-US" sz="1300" dirty="0"/>
          </a:p>
          <a:p>
            <a:pPr marL="177800" indent="-177800">
              <a:spcAft>
                <a:spcPts val="500"/>
              </a:spcAft>
              <a:buSzPct val="100000"/>
              <a:buChar char="•"/>
            </a:pPr>
            <a:r>
              <a:rPr lang="en-US" sz="1300" dirty="0">
                <a:solidFill>
                  <a:srgbClr val="C9D3DE"/>
                </a:solidFill>
                <a:latin typeface="Calibri" pitchFamily="34" charset="0"/>
                <a:ea typeface="Calibri" pitchFamily="34" charset="-122"/>
                <a:cs typeface="Calibri" pitchFamily="34" charset="-120"/>
              </a:rPr>
              <a:t>Trips and deliveries</a:t>
            </a:r>
            <a:endParaRPr lang="en-US" sz="1300" dirty="0"/>
          </a:p>
          <a:p>
            <a:pPr marL="177800" indent="-177800">
              <a:spcAft>
                <a:spcPts val="500"/>
              </a:spcAft>
              <a:buSzPct val="100000"/>
              <a:buChar char="•"/>
            </a:pPr>
            <a:r>
              <a:rPr lang="en-US" sz="1300" dirty="0">
                <a:solidFill>
                  <a:srgbClr val="C9D3DE"/>
                </a:solidFill>
                <a:latin typeface="Calibri" pitchFamily="34" charset="0"/>
                <a:ea typeface="Calibri" pitchFamily="34" charset="-122"/>
                <a:cs typeface="Calibri" pitchFamily="34" charset="-120"/>
              </a:rPr>
              <a:t>Vehicle register</a:t>
            </a:r>
            <a:endParaRPr lang="en-US" sz="1300" dirty="0"/>
          </a:p>
        </p:txBody>
      </p:sp>
      <p:sp>
        <p:nvSpPr>
          <p:cNvPr id="11" name="stage2"/>
          <p:cNvSpPr/>
          <p:nvPr/>
        </p:nvSpPr>
        <p:spPr>
          <a:xfrm>
            <a:off x="3392424" y="1371600"/>
            <a:ext cx="2468880" cy="2468880"/>
          </a:xfrm>
          <a:prstGeom prst="roundRect">
            <a:avLst>
              <a:gd name="adj" fmla="val 4444"/>
            </a:avLst>
          </a:prstGeom>
          <a:solidFill>
            <a:srgbClr val="1F2B39"/>
          </a:solidFill>
          <a:ln w="9525">
            <a:solidFill>
              <a:srgbClr val="33465A"/>
            </a:solidFill>
            <a:prstDash val="solid"/>
          </a:ln>
          <a:effectLst>
            <a:outerShdw sx="100000" sy="100000" kx="0" ky="0" algn="bl" rotWithShape="0" blurRad="101600" dist="25400" dir="5400000">
              <a:srgbClr val="000000">
                <a:alpha val="22000"/>
              </a:srgbClr>
            </a:outerShdw>
          </a:effectLst>
        </p:spPr>
      </p:sp>
      <p:sp>
        <p:nvSpPr>
          <p:cNvPr id="12" name="badge"/>
          <p:cNvSpPr/>
          <p:nvPr/>
        </p:nvSpPr>
        <p:spPr>
          <a:xfrm>
            <a:off x="3557016" y="1536192"/>
            <a:ext cx="384048" cy="384048"/>
          </a:xfrm>
          <a:prstGeom prst="ellipse">
            <a:avLst/>
          </a:prstGeom>
          <a:solidFill>
            <a:srgbClr val="F2A900"/>
          </a:solidFill>
          <a:ln w="6350">
            <a:solidFill>
              <a:srgbClr val="F2A900"/>
            </a:solidFill>
            <a:prstDash val="solid"/>
          </a:ln>
        </p:spPr>
      </p:sp>
      <p:sp>
        <p:nvSpPr>
          <p:cNvPr id="13" name="Text 10"/>
          <p:cNvSpPr txBox="1"/>
          <p:nvPr/>
        </p:nvSpPr>
        <p:spPr>
          <a:xfrm>
            <a:off x="3557016" y="1536192"/>
            <a:ext cx="384048" cy="384048"/>
          </a:xfrm>
          <a:prstGeom prst="rect">
            <a:avLst/>
          </a:prstGeom>
          <a:noFill/>
          <a:ln/>
        </p:spPr>
        <p:txBody>
          <a:bodyPr wrap="square" lIns="0" tIns="0" rIns="0" bIns="0" rtlCol="0" anchor="ctr"/>
          <a:lstStyle/>
          <a:p>
            <a:pPr algn="ctr" indent="0" marL="0">
              <a:buNone/>
            </a:pPr>
            <a:r>
              <a:rPr lang="en-US" sz="1300" b="1" dirty="0">
                <a:solidFill>
                  <a:srgbClr val="0E141B"/>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4032504" y="1499616"/>
            <a:ext cx="1143000" cy="4754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Databricks: Data Engineering</a:t>
            </a:r>
            <a:endParaRPr lang="en-US" sz="1400" dirty="0"/>
          </a:p>
        </p:txBody>
      </p:sp>
      <p:sp>
        <p:nvSpPr>
          <p:cNvPr id="15" name="iconcircle"/>
          <p:cNvSpPr/>
          <p:nvPr/>
        </p:nvSpPr>
        <p:spPr>
          <a:xfrm>
            <a:off x="5330952" y="1517904"/>
            <a:ext cx="384048" cy="384048"/>
          </a:xfrm>
          <a:prstGeom prst="ellipse">
            <a:avLst/>
          </a:prstGeom>
          <a:solidFill>
            <a:srgbClr val="F2A900">
              <a:alpha val="15000"/>
            </a:srgbClr>
          </a:solidFill>
          <a:ln w="6350">
            <a:solidFill>
              <a:srgbClr val="F2A900">
                <a:alpha val="15000"/>
              </a:srgbClr>
            </a:solidFill>
            <a:prstDash val="solid"/>
          </a:ln>
        </p:spPr>
      </p:sp>
      <p:pic>
        <p:nvPicPr>
          <p:cNvPr id="16" name="Image 1" descr="FaLayerGroup">    </p:cNvPr>
          <p:cNvPicPr>
            <a:picLocks noChangeAspect="1"/>
          </p:cNvPicPr>
          <p:nvPr/>
        </p:nvPicPr>
        <p:blipFill>
          <a:blip r:embed="rId2"/>
          <a:stretch>
            <a:fillRect/>
          </a:stretch>
        </p:blipFill>
        <p:spPr>
          <a:xfrm>
            <a:off x="5423124" y="1610076"/>
            <a:ext cx="199705" cy="199705"/>
          </a:xfrm>
          <a:prstGeom prst="rect">
            <a:avLst/>
          </a:prstGeom>
        </p:spPr>
      </p:pic>
      <p:sp>
        <p:nvSpPr>
          <p:cNvPr id="17" name="pill"/>
          <p:cNvSpPr/>
          <p:nvPr/>
        </p:nvSpPr>
        <p:spPr>
          <a:xfrm>
            <a:off x="3575304" y="2194560"/>
            <a:ext cx="2103120" cy="438912"/>
          </a:xfrm>
          <a:prstGeom prst="roundRect">
            <a:avLst>
              <a:gd name="adj" fmla="val 16667"/>
            </a:avLst>
          </a:prstGeom>
          <a:solidFill>
            <a:srgbClr val="CD7F32"/>
          </a:solidFill>
          <a:ln w="6350">
            <a:solidFill>
              <a:srgbClr val="CD7F32"/>
            </a:solidFill>
            <a:prstDash val="solid"/>
          </a:ln>
        </p:spPr>
      </p:sp>
      <p:sp>
        <p:nvSpPr>
          <p:cNvPr id="18" name="Text 14"/>
          <p:cNvSpPr txBox="1"/>
          <p:nvPr/>
        </p:nvSpPr>
        <p:spPr>
          <a:xfrm>
            <a:off x="3575304" y="2194560"/>
            <a:ext cx="2103120" cy="438912"/>
          </a:xfrm>
          <a:prstGeom prst="rect">
            <a:avLst/>
          </a:prstGeom>
          <a:noFill/>
          <a:ln/>
        </p:spPr>
        <p:txBody>
          <a:bodyPr wrap="square" lIns="0" tIns="0" rIns="0" bIns="0" rtlCol="0" anchor="ctr"/>
          <a:lstStyle/>
          <a:p>
            <a:pPr algn="ctr" indent="0" marL="0">
              <a:buNone/>
            </a:pPr>
            <a:r>
              <a:rPr lang="en-US" sz="1200" b="1" dirty="0">
                <a:solidFill>
                  <a:srgbClr val="0E141B"/>
                </a:solidFill>
                <a:latin typeface="Calibri" pitchFamily="34" charset="0"/>
                <a:ea typeface="Calibri" pitchFamily="34" charset="-122"/>
                <a:cs typeface="Calibri" pitchFamily="34" charset="-120"/>
              </a:rPr>
              <a:t>Bronze: raw data</a:t>
            </a:r>
            <a:endParaRPr lang="en-US" sz="1200" dirty="0"/>
          </a:p>
        </p:txBody>
      </p:sp>
      <p:sp>
        <p:nvSpPr>
          <p:cNvPr id="19" name="pill"/>
          <p:cNvSpPr/>
          <p:nvPr/>
        </p:nvSpPr>
        <p:spPr>
          <a:xfrm>
            <a:off x="3575304" y="2724912"/>
            <a:ext cx="2103120" cy="438912"/>
          </a:xfrm>
          <a:prstGeom prst="roundRect">
            <a:avLst>
              <a:gd name="adj" fmla="val 16667"/>
            </a:avLst>
          </a:prstGeom>
          <a:solidFill>
            <a:srgbClr val="B4BEC9"/>
          </a:solidFill>
          <a:ln w="6350">
            <a:solidFill>
              <a:srgbClr val="B4BEC9"/>
            </a:solidFill>
            <a:prstDash val="solid"/>
          </a:ln>
        </p:spPr>
      </p:sp>
      <p:sp>
        <p:nvSpPr>
          <p:cNvPr id="20" name="Text 16"/>
          <p:cNvSpPr txBox="1"/>
          <p:nvPr/>
        </p:nvSpPr>
        <p:spPr>
          <a:xfrm>
            <a:off x="3575304" y="2724912"/>
            <a:ext cx="2103120" cy="438912"/>
          </a:xfrm>
          <a:prstGeom prst="rect">
            <a:avLst/>
          </a:prstGeom>
          <a:noFill/>
          <a:ln/>
        </p:spPr>
        <p:txBody>
          <a:bodyPr wrap="square" lIns="0" tIns="0" rIns="0" bIns="0" rtlCol="0" anchor="ctr"/>
          <a:lstStyle/>
          <a:p>
            <a:pPr algn="ctr" indent="0" marL="0">
              <a:buNone/>
            </a:pPr>
            <a:r>
              <a:rPr lang="en-US" sz="1200" b="1" dirty="0">
                <a:solidFill>
                  <a:srgbClr val="0E141B"/>
                </a:solidFill>
                <a:latin typeface="Calibri" pitchFamily="34" charset="0"/>
                <a:ea typeface="Calibri" pitchFamily="34" charset="-122"/>
                <a:cs typeface="Calibri" pitchFamily="34" charset="-120"/>
              </a:rPr>
              <a:t>Silver: cleaned data</a:t>
            </a:r>
            <a:endParaRPr lang="en-US" sz="1200" dirty="0"/>
          </a:p>
        </p:txBody>
      </p:sp>
      <p:sp>
        <p:nvSpPr>
          <p:cNvPr id="21" name="pill"/>
          <p:cNvSpPr/>
          <p:nvPr/>
        </p:nvSpPr>
        <p:spPr>
          <a:xfrm>
            <a:off x="3575304" y="3255264"/>
            <a:ext cx="2103120" cy="438912"/>
          </a:xfrm>
          <a:prstGeom prst="roundRect">
            <a:avLst>
              <a:gd name="adj" fmla="val 16667"/>
            </a:avLst>
          </a:prstGeom>
          <a:solidFill>
            <a:srgbClr val="E8B94A"/>
          </a:solidFill>
          <a:ln w="6350">
            <a:solidFill>
              <a:srgbClr val="E8B94A"/>
            </a:solidFill>
            <a:prstDash val="solid"/>
          </a:ln>
        </p:spPr>
      </p:sp>
      <p:sp>
        <p:nvSpPr>
          <p:cNvPr id="22" name="Text 18"/>
          <p:cNvSpPr txBox="1"/>
          <p:nvPr/>
        </p:nvSpPr>
        <p:spPr>
          <a:xfrm>
            <a:off x="3575304" y="3255264"/>
            <a:ext cx="2103120" cy="438912"/>
          </a:xfrm>
          <a:prstGeom prst="rect">
            <a:avLst/>
          </a:prstGeom>
          <a:noFill/>
          <a:ln/>
        </p:spPr>
        <p:txBody>
          <a:bodyPr wrap="square" lIns="0" tIns="0" rIns="0" bIns="0" rtlCol="0" anchor="ctr"/>
          <a:lstStyle/>
          <a:p>
            <a:pPr algn="ctr" indent="0" marL="0">
              <a:buNone/>
            </a:pPr>
            <a:r>
              <a:rPr lang="en-US" sz="1200" b="1" dirty="0">
                <a:solidFill>
                  <a:srgbClr val="0E141B"/>
                </a:solidFill>
                <a:latin typeface="Calibri" pitchFamily="34" charset="0"/>
                <a:ea typeface="Calibri" pitchFamily="34" charset="-122"/>
                <a:cs typeface="Calibri" pitchFamily="34" charset="-120"/>
              </a:rPr>
              <a:t>Gold: business-ready tables</a:t>
            </a:r>
            <a:endParaRPr lang="en-US" sz="1200" dirty="0"/>
          </a:p>
        </p:txBody>
      </p:sp>
      <p:sp>
        <p:nvSpPr>
          <p:cNvPr id="23" name="stage3"/>
          <p:cNvSpPr/>
          <p:nvPr/>
        </p:nvSpPr>
        <p:spPr>
          <a:xfrm>
            <a:off x="6327648" y="1371600"/>
            <a:ext cx="2468880" cy="2468880"/>
          </a:xfrm>
          <a:prstGeom prst="roundRect">
            <a:avLst>
              <a:gd name="adj" fmla="val 4444"/>
            </a:avLst>
          </a:prstGeom>
          <a:solidFill>
            <a:srgbClr val="1F2B39"/>
          </a:solidFill>
          <a:ln w="9525">
            <a:solidFill>
              <a:srgbClr val="33465A"/>
            </a:solidFill>
            <a:prstDash val="solid"/>
          </a:ln>
          <a:effectLst>
            <a:outerShdw sx="100000" sy="100000" kx="0" ky="0" algn="bl" rotWithShape="0" blurRad="101600" dist="25400" dir="5400000">
              <a:srgbClr val="000000">
                <a:alpha val="22000"/>
              </a:srgbClr>
            </a:outerShdw>
          </a:effectLst>
        </p:spPr>
      </p:sp>
      <p:sp>
        <p:nvSpPr>
          <p:cNvPr id="24" name="badge"/>
          <p:cNvSpPr/>
          <p:nvPr/>
        </p:nvSpPr>
        <p:spPr>
          <a:xfrm>
            <a:off x="6492240" y="1536192"/>
            <a:ext cx="384048" cy="384048"/>
          </a:xfrm>
          <a:prstGeom prst="ellipse">
            <a:avLst/>
          </a:prstGeom>
          <a:solidFill>
            <a:srgbClr val="F2A900"/>
          </a:solidFill>
          <a:ln w="6350">
            <a:solidFill>
              <a:srgbClr val="F2A900"/>
            </a:solidFill>
            <a:prstDash val="solid"/>
          </a:ln>
        </p:spPr>
      </p:sp>
      <p:sp>
        <p:nvSpPr>
          <p:cNvPr id="25" name="Text 21"/>
          <p:cNvSpPr txBox="1"/>
          <p:nvPr/>
        </p:nvSpPr>
        <p:spPr>
          <a:xfrm>
            <a:off x="6492240" y="1536192"/>
            <a:ext cx="384048" cy="384048"/>
          </a:xfrm>
          <a:prstGeom prst="rect">
            <a:avLst/>
          </a:prstGeom>
          <a:noFill/>
          <a:ln/>
        </p:spPr>
        <p:txBody>
          <a:bodyPr wrap="square" lIns="0" tIns="0" rIns="0" bIns="0" rtlCol="0" anchor="ctr"/>
          <a:lstStyle/>
          <a:p>
            <a:pPr algn="ctr" indent="0" marL="0">
              <a:buNone/>
            </a:pPr>
            <a:r>
              <a:rPr lang="en-US" sz="1300" b="1" dirty="0">
                <a:solidFill>
                  <a:srgbClr val="0E141B"/>
                </a:solidFill>
                <a:latin typeface="Calibri" pitchFamily="34" charset="0"/>
                <a:ea typeface="Calibri" pitchFamily="34" charset="-122"/>
                <a:cs typeface="Calibri" pitchFamily="34" charset="-120"/>
              </a:rPr>
              <a:t>3</a:t>
            </a:r>
            <a:endParaRPr lang="en-US" sz="1300" dirty="0"/>
          </a:p>
        </p:txBody>
      </p:sp>
      <p:sp>
        <p:nvSpPr>
          <p:cNvPr id="26" name="Text 22"/>
          <p:cNvSpPr txBox="1"/>
          <p:nvPr/>
        </p:nvSpPr>
        <p:spPr>
          <a:xfrm>
            <a:off x="6967728" y="1499616"/>
            <a:ext cx="1143000" cy="4754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SQL Risk Detection Engine</a:t>
            </a:r>
            <a:endParaRPr lang="en-US" sz="1400" dirty="0"/>
          </a:p>
        </p:txBody>
      </p:sp>
      <p:sp>
        <p:nvSpPr>
          <p:cNvPr id="27" name="iconcircle"/>
          <p:cNvSpPr/>
          <p:nvPr/>
        </p:nvSpPr>
        <p:spPr>
          <a:xfrm>
            <a:off x="8266176" y="1517904"/>
            <a:ext cx="384048" cy="384048"/>
          </a:xfrm>
          <a:prstGeom prst="ellipse">
            <a:avLst/>
          </a:prstGeom>
          <a:solidFill>
            <a:srgbClr val="F2A900">
              <a:alpha val="15000"/>
            </a:srgbClr>
          </a:solidFill>
          <a:ln w="6350">
            <a:solidFill>
              <a:srgbClr val="F2A900">
                <a:alpha val="15000"/>
              </a:srgbClr>
            </a:solidFill>
            <a:prstDash val="solid"/>
          </a:ln>
        </p:spPr>
      </p:sp>
      <p:pic>
        <p:nvPicPr>
          <p:cNvPr id="28" name="Image 2" descr="FaExclamationTriangle">    </p:cNvPr>
          <p:cNvPicPr>
            <a:picLocks noChangeAspect="1"/>
          </p:cNvPicPr>
          <p:nvPr/>
        </p:nvPicPr>
        <p:blipFill>
          <a:blip r:embed="rId3"/>
          <a:stretch>
            <a:fillRect/>
          </a:stretch>
        </p:blipFill>
        <p:spPr>
          <a:xfrm>
            <a:off x="8358348" y="1610076"/>
            <a:ext cx="199705" cy="199705"/>
          </a:xfrm>
          <a:prstGeom prst="rect">
            <a:avLst/>
          </a:prstGeom>
        </p:spPr>
      </p:pic>
      <p:sp>
        <p:nvSpPr>
          <p:cNvPr id="29" name="Text 24"/>
          <p:cNvSpPr txBox="1"/>
          <p:nvPr/>
        </p:nvSpPr>
        <p:spPr>
          <a:xfrm>
            <a:off x="6510528" y="2103120"/>
            <a:ext cx="2103120" cy="457200"/>
          </a:xfrm>
          <a:prstGeom prst="rect">
            <a:avLst/>
          </a:prstGeom>
          <a:noFill/>
          <a:ln/>
        </p:spPr>
        <p:txBody>
          <a:bodyPr wrap="square" lIns="0" tIns="0" rIns="0" bIns="0" rtlCol="0" anchor="t"/>
          <a:lstStyle/>
          <a:p>
            <a:pPr indent="0" marL="0">
              <a:buNone/>
            </a:pPr>
            <a:r>
              <a:rPr lang="en-US" sz="1200" i="1" dirty="0">
                <a:solidFill>
                  <a:srgbClr val="F2A900"/>
                </a:solidFill>
                <a:latin typeface="Calibri" pitchFamily="34" charset="0"/>
                <a:ea typeface="Calibri" pitchFamily="34" charset="-122"/>
                <a:cs typeface="Calibri" pitchFamily="34" charset="-120"/>
              </a:rPr>
              <a:t>Rules and scores calculated from data</a:t>
            </a:r>
            <a:endParaRPr lang="en-US" sz="1200" dirty="0"/>
          </a:p>
        </p:txBody>
      </p:sp>
      <p:sp>
        <p:nvSpPr>
          <p:cNvPr id="30" name="Text 25"/>
          <p:cNvSpPr txBox="1"/>
          <p:nvPr/>
        </p:nvSpPr>
        <p:spPr>
          <a:xfrm>
            <a:off x="6510528" y="2606040"/>
            <a:ext cx="2103120" cy="11430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C9D3DE"/>
                </a:solidFill>
                <a:latin typeface="Calibri" pitchFamily="34" charset="0"/>
                <a:ea typeface="Calibri" pitchFamily="34" charset="-122"/>
                <a:cs typeface="Calibri" pitchFamily="34" charset="-120"/>
              </a:rPr>
              <a:t>Maintenance risk</a:t>
            </a:r>
            <a:endParaRPr lang="en-US" sz="1300" dirty="0"/>
          </a:p>
          <a:p>
            <a:pPr marL="177800" indent="-177800">
              <a:spcAft>
                <a:spcPts val="400"/>
              </a:spcAft>
              <a:buSzPct val="100000"/>
              <a:buChar char="•"/>
            </a:pPr>
            <a:r>
              <a:rPr lang="en-US" sz="1300" dirty="0">
                <a:solidFill>
                  <a:srgbClr val="C9D3DE"/>
                </a:solidFill>
                <a:latin typeface="Calibri" pitchFamily="34" charset="0"/>
                <a:ea typeface="Calibri" pitchFamily="34" charset="-122"/>
                <a:cs typeface="Calibri" pitchFamily="34" charset="-120"/>
              </a:rPr>
              <a:t>Abnormal fuel consumption</a:t>
            </a:r>
            <a:endParaRPr lang="en-US" sz="1300" dirty="0"/>
          </a:p>
          <a:p>
            <a:pPr marL="177800" indent="-177800">
              <a:spcAft>
                <a:spcPts val="400"/>
              </a:spcAft>
              <a:buSzPct val="100000"/>
              <a:buChar char="•"/>
            </a:pPr>
            <a:r>
              <a:rPr lang="en-US" sz="1300" dirty="0">
                <a:solidFill>
                  <a:srgbClr val="C9D3DE"/>
                </a:solidFill>
                <a:latin typeface="Calibri" pitchFamily="34" charset="0"/>
                <a:ea typeface="Calibri" pitchFamily="34" charset="-122"/>
                <a:cs typeface="Calibri" pitchFamily="34" charset="-120"/>
              </a:rPr>
              <a:t>Dispatch risk</a:t>
            </a:r>
            <a:endParaRPr lang="en-US" sz="1300" dirty="0"/>
          </a:p>
          <a:p>
            <a:pPr marL="177800" indent="-177800">
              <a:spcAft>
                <a:spcPts val="400"/>
              </a:spcAft>
              <a:buSzPct val="100000"/>
              <a:buChar char="•"/>
            </a:pPr>
            <a:r>
              <a:rPr lang="en-US" sz="1300" dirty="0">
                <a:solidFill>
                  <a:srgbClr val="C9D3DE"/>
                </a:solidFill>
                <a:latin typeface="Calibri" pitchFamily="34" charset="0"/>
                <a:ea typeface="Calibri" pitchFamily="34" charset="-122"/>
                <a:cs typeface="Calibri" pitchFamily="34" charset="-120"/>
              </a:rPr>
              <a:t>Delivery delays</a:t>
            </a:r>
            <a:endParaRPr lang="en-US" sz="1300" dirty="0"/>
          </a:p>
        </p:txBody>
      </p:sp>
      <p:sp>
        <p:nvSpPr>
          <p:cNvPr id="31" name="stage4A"/>
          <p:cNvSpPr/>
          <p:nvPr/>
        </p:nvSpPr>
        <p:spPr>
          <a:xfrm>
            <a:off x="9262872" y="1371600"/>
            <a:ext cx="2468880" cy="1188720"/>
          </a:xfrm>
          <a:prstGeom prst="roundRect">
            <a:avLst>
              <a:gd name="adj" fmla="val 9231"/>
            </a:avLst>
          </a:prstGeom>
          <a:solidFill>
            <a:srgbClr val="1F2B39"/>
          </a:solidFill>
          <a:ln w="9525">
            <a:solidFill>
              <a:srgbClr val="33465A"/>
            </a:solidFill>
            <a:prstDash val="solid"/>
          </a:ln>
          <a:effectLst>
            <a:outerShdw sx="100000" sy="100000" kx="0" ky="0" algn="bl" rotWithShape="0" blurRad="101600" dist="25400" dir="5400000">
              <a:srgbClr val="000000">
                <a:alpha val="22000"/>
              </a:srgbClr>
            </a:outerShdw>
          </a:effectLst>
        </p:spPr>
      </p:sp>
      <p:sp>
        <p:nvSpPr>
          <p:cNvPr id="32" name="badge"/>
          <p:cNvSpPr/>
          <p:nvPr/>
        </p:nvSpPr>
        <p:spPr>
          <a:xfrm>
            <a:off x="9427464" y="1536192"/>
            <a:ext cx="384048" cy="384048"/>
          </a:xfrm>
          <a:prstGeom prst="ellipse">
            <a:avLst/>
          </a:prstGeom>
          <a:solidFill>
            <a:srgbClr val="F2A900"/>
          </a:solidFill>
          <a:ln w="6350">
            <a:solidFill>
              <a:srgbClr val="F2A900"/>
            </a:solidFill>
            <a:prstDash val="solid"/>
          </a:ln>
        </p:spPr>
      </p:sp>
      <p:sp>
        <p:nvSpPr>
          <p:cNvPr id="33" name="Text 28"/>
          <p:cNvSpPr txBox="1"/>
          <p:nvPr/>
        </p:nvSpPr>
        <p:spPr>
          <a:xfrm>
            <a:off x="9427464" y="1536192"/>
            <a:ext cx="384048" cy="384048"/>
          </a:xfrm>
          <a:prstGeom prst="rect">
            <a:avLst/>
          </a:prstGeom>
          <a:noFill/>
          <a:ln/>
        </p:spPr>
        <p:txBody>
          <a:bodyPr wrap="square" lIns="0" tIns="0" rIns="0" bIns="0" rtlCol="0" anchor="ctr"/>
          <a:lstStyle/>
          <a:p>
            <a:pPr algn="ctr" indent="0" marL="0">
              <a:buNone/>
            </a:pPr>
            <a:r>
              <a:rPr lang="en-US" sz="1100" b="1" dirty="0">
                <a:solidFill>
                  <a:srgbClr val="0E141B"/>
                </a:solidFill>
                <a:latin typeface="Calibri" pitchFamily="34" charset="0"/>
                <a:ea typeface="Calibri" pitchFamily="34" charset="-122"/>
                <a:cs typeface="Calibri" pitchFamily="34" charset="-120"/>
              </a:rPr>
              <a:t>4A</a:t>
            </a:r>
            <a:endParaRPr lang="en-US" sz="1100" dirty="0"/>
          </a:p>
        </p:txBody>
      </p:sp>
      <p:sp>
        <p:nvSpPr>
          <p:cNvPr id="34" name="Text 29"/>
          <p:cNvSpPr txBox="1"/>
          <p:nvPr/>
        </p:nvSpPr>
        <p:spPr>
          <a:xfrm>
            <a:off x="9902952" y="1499616"/>
            <a:ext cx="1143000" cy="4754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Power BI</a:t>
            </a:r>
            <a:endParaRPr lang="en-US" sz="1400" dirty="0"/>
          </a:p>
        </p:txBody>
      </p:sp>
      <p:sp>
        <p:nvSpPr>
          <p:cNvPr id="35" name="iconcircle"/>
          <p:cNvSpPr/>
          <p:nvPr/>
        </p:nvSpPr>
        <p:spPr>
          <a:xfrm>
            <a:off x="11201400" y="1517904"/>
            <a:ext cx="384048" cy="384048"/>
          </a:xfrm>
          <a:prstGeom prst="ellipse">
            <a:avLst/>
          </a:prstGeom>
          <a:solidFill>
            <a:srgbClr val="F2A900">
              <a:alpha val="15000"/>
            </a:srgbClr>
          </a:solidFill>
          <a:ln w="6350">
            <a:solidFill>
              <a:srgbClr val="F2A900">
                <a:alpha val="15000"/>
              </a:srgbClr>
            </a:solidFill>
            <a:prstDash val="solid"/>
          </a:ln>
        </p:spPr>
      </p:sp>
      <p:pic>
        <p:nvPicPr>
          <p:cNvPr id="36" name="Image 3" descr="FaChartBar">    </p:cNvPr>
          <p:cNvPicPr>
            <a:picLocks noChangeAspect="1"/>
          </p:cNvPicPr>
          <p:nvPr/>
        </p:nvPicPr>
        <p:blipFill>
          <a:blip r:embed="rId4"/>
          <a:stretch>
            <a:fillRect/>
          </a:stretch>
        </p:blipFill>
        <p:spPr>
          <a:xfrm>
            <a:off x="11293572" y="1610076"/>
            <a:ext cx="199705" cy="199705"/>
          </a:xfrm>
          <a:prstGeom prst="rect">
            <a:avLst/>
          </a:prstGeom>
        </p:spPr>
      </p:pic>
      <p:sp>
        <p:nvSpPr>
          <p:cNvPr id="37" name="Text 31"/>
          <p:cNvSpPr txBox="1"/>
          <p:nvPr/>
        </p:nvSpPr>
        <p:spPr>
          <a:xfrm>
            <a:off x="9445752" y="1993392"/>
            <a:ext cx="2103120" cy="530352"/>
          </a:xfrm>
          <a:prstGeom prst="rect">
            <a:avLst/>
          </a:prstGeom>
          <a:noFill/>
          <a:ln/>
        </p:spPr>
        <p:txBody>
          <a:bodyPr wrap="square" lIns="0" tIns="0" rIns="0" bIns="0" rtlCol="0" anchor="t"/>
          <a:lstStyle/>
          <a:p>
            <a:pPr indent="0" marL="0">
              <a:buNone/>
            </a:pPr>
            <a:r>
              <a:rPr lang="en-US" sz="1200" dirty="0">
                <a:solidFill>
                  <a:srgbClr val="C9D3DE"/>
                </a:solidFill>
                <a:latin typeface="Calibri" pitchFamily="34" charset="0"/>
                <a:ea typeface="Calibri" pitchFamily="34" charset="-122"/>
                <a:cs typeface="Calibri" pitchFamily="34" charset="-120"/>
              </a:rPr>
              <a:t>Executive dashboard, fleet KPIs, trends, and high-risk vehicles</a:t>
            </a:r>
            <a:endParaRPr lang="en-US" sz="1200" dirty="0"/>
          </a:p>
        </p:txBody>
      </p:sp>
      <p:sp>
        <p:nvSpPr>
          <p:cNvPr id="38" name="stage4B"/>
          <p:cNvSpPr/>
          <p:nvPr/>
        </p:nvSpPr>
        <p:spPr>
          <a:xfrm>
            <a:off x="9262872" y="2651760"/>
            <a:ext cx="2468880" cy="1188720"/>
          </a:xfrm>
          <a:prstGeom prst="roundRect">
            <a:avLst>
              <a:gd name="adj" fmla="val 9231"/>
            </a:avLst>
          </a:prstGeom>
          <a:solidFill>
            <a:srgbClr val="1F2B39"/>
          </a:solidFill>
          <a:ln w="9525">
            <a:solidFill>
              <a:srgbClr val="33465A"/>
            </a:solidFill>
            <a:prstDash val="solid"/>
          </a:ln>
          <a:effectLst>
            <a:outerShdw sx="100000" sy="100000" kx="0" ky="0" algn="bl" rotWithShape="0" blurRad="101600" dist="25400" dir="5400000">
              <a:srgbClr val="000000">
                <a:alpha val="22000"/>
              </a:srgbClr>
            </a:outerShdw>
          </a:effectLst>
        </p:spPr>
      </p:sp>
      <p:sp>
        <p:nvSpPr>
          <p:cNvPr id="39" name="badge"/>
          <p:cNvSpPr/>
          <p:nvPr/>
        </p:nvSpPr>
        <p:spPr>
          <a:xfrm>
            <a:off x="9427464" y="2816352"/>
            <a:ext cx="384048" cy="384048"/>
          </a:xfrm>
          <a:prstGeom prst="ellipse">
            <a:avLst/>
          </a:prstGeom>
          <a:solidFill>
            <a:srgbClr val="F2A900"/>
          </a:solidFill>
          <a:ln w="6350">
            <a:solidFill>
              <a:srgbClr val="F2A900"/>
            </a:solidFill>
            <a:prstDash val="solid"/>
          </a:ln>
        </p:spPr>
      </p:sp>
      <p:sp>
        <p:nvSpPr>
          <p:cNvPr id="40" name="Text 34"/>
          <p:cNvSpPr txBox="1"/>
          <p:nvPr/>
        </p:nvSpPr>
        <p:spPr>
          <a:xfrm>
            <a:off x="9427464" y="2816352"/>
            <a:ext cx="384048" cy="384048"/>
          </a:xfrm>
          <a:prstGeom prst="rect">
            <a:avLst/>
          </a:prstGeom>
          <a:noFill/>
          <a:ln/>
        </p:spPr>
        <p:txBody>
          <a:bodyPr wrap="square" lIns="0" tIns="0" rIns="0" bIns="0" rtlCol="0" anchor="ctr"/>
          <a:lstStyle/>
          <a:p>
            <a:pPr algn="ctr" indent="0" marL="0">
              <a:buNone/>
            </a:pPr>
            <a:r>
              <a:rPr lang="en-US" sz="1100" b="1" dirty="0">
                <a:solidFill>
                  <a:srgbClr val="0E141B"/>
                </a:solidFill>
                <a:latin typeface="Calibri" pitchFamily="34" charset="0"/>
                <a:ea typeface="Calibri" pitchFamily="34" charset="-122"/>
                <a:cs typeface="Calibri" pitchFamily="34" charset="-120"/>
              </a:rPr>
              <a:t>4B</a:t>
            </a:r>
            <a:endParaRPr lang="en-US" sz="1100" dirty="0"/>
          </a:p>
        </p:txBody>
      </p:sp>
      <p:sp>
        <p:nvSpPr>
          <p:cNvPr id="41" name="Text 35"/>
          <p:cNvSpPr txBox="1"/>
          <p:nvPr/>
        </p:nvSpPr>
        <p:spPr>
          <a:xfrm>
            <a:off x="9902952" y="2779776"/>
            <a:ext cx="1143000" cy="4754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n8n</a:t>
            </a:r>
            <a:endParaRPr lang="en-US" sz="1400" dirty="0"/>
          </a:p>
        </p:txBody>
      </p:sp>
      <p:sp>
        <p:nvSpPr>
          <p:cNvPr id="42" name="iconcircle"/>
          <p:cNvSpPr/>
          <p:nvPr/>
        </p:nvSpPr>
        <p:spPr>
          <a:xfrm>
            <a:off x="11201400" y="2798064"/>
            <a:ext cx="384048" cy="384048"/>
          </a:xfrm>
          <a:prstGeom prst="ellipse">
            <a:avLst/>
          </a:prstGeom>
          <a:solidFill>
            <a:srgbClr val="F2A900">
              <a:alpha val="15000"/>
            </a:srgbClr>
          </a:solidFill>
          <a:ln w="6350">
            <a:solidFill>
              <a:srgbClr val="F2A900">
                <a:alpha val="15000"/>
              </a:srgbClr>
            </a:solidFill>
            <a:prstDash val="solid"/>
          </a:ln>
        </p:spPr>
      </p:sp>
      <p:pic>
        <p:nvPicPr>
          <p:cNvPr id="43" name="Image 4" descr="FaProjectDiagram">    </p:cNvPr>
          <p:cNvPicPr>
            <a:picLocks noChangeAspect="1"/>
          </p:cNvPicPr>
          <p:nvPr/>
        </p:nvPicPr>
        <p:blipFill>
          <a:blip r:embed="rId5"/>
          <a:stretch>
            <a:fillRect/>
          </a:stretch>
        </p:blipFill>
        <p:spPr>
          <a:xfrm>
            <a:off x="11293572" y="2890236"/>
            <a:ext cx="199705" cy="199705"/>
          </a:xfrm>
          <a:prstGeom prst="rect">
            <a:avLst/>
          </a:prstGeom>
        </p:spPr>
      </p:pic>
      <p:sp>
        <p:nvSpPr>
          <p:cNvPr id="44" name="Text 37"/>
          <p:cNvSpPr txBox="1"/>
          <p:nvPr/>
        </p:nvSpPr>
        <p:spPr>
          <a:xfrm>
            <a:off x="9445752" y="3273552"/>
            <a:ext cx="2103120" cy="530352"/>
          </a:xfrm>
          <a:prstGeom prst="rect">
            <a:avLst/>
          </a:prstGeom>
          <a:noFill/>
          <a:ln/>
        </p:spPr>
        <p:txBody>
          <a:bodyPr wrap="square" lIns="0" tIns="0" rIns="0" bIns="0" rtlCol="0" anchor="t"/>
          <a:lstStyle/>
          <a:p>
            <a:pPr indent="0" marL="0">
              <a:buNone/>
            </a:pPr>
            <a:r>
              <a:rPr lang="en-US" sz="1200" dirty="0">
                <a:solidFill>
                  <a:srgbClr val="C9D3DE"/>
                </a:solidFill>
                <a:latin typeface="Calibri" pitchFamily="34" charset="0"/>
                <a:ea typeface="Calibri" pitchFamily="34" charset="-122"/>
                <a:cs typeface="Calibri" pitchFamily="34" charset="-120"/>
              </a:rPr>
              <a:t>Reads new or unresolved risk records and orchestrates alerts</a:t>
            </a:r>
            <a:endParaRPr lang="en-US" sz="1200" dirty="0"/>
          </a:p>
        </p:txBody>
      </p:sp>
      <p:sp>
        <p:nvSpPr>
          <p:cNvPr id="45" name="stage5"/>
          <p:cNvSpPr/>
          <p:nvPr/>
        </p:nvSpPr>
        <p:spPr>
          <a:xfrm>
            <a:off x="9262872" y="4224528"/>
            <a:ext cx="2468880" cy="2057400"/>
          </a:xfrm>
          <a:prstGeom prst="roundRect">
            <a:avLst>
              <a:gd name="adj" fmla="val 5333"/>
            </a:avLst>
          </a:prstGeom>
          <a:solidFill>
            <a:srgbClr val="1F2B39"/>
          </a:solidFill>
          <a:ln w="9525">
            <a:solidFill>
              <a:srgbClr val="33465A"/>
            </a:solidFill>
            <a:prstDash val="solid"/>
          </a:ln>
          <a:effectLst>
            <a:outerShdw sx="100000" sy="100000" kx="0" ky="0" algn="bl" rotWithShape="0" blurRad="101600" dist="25400" dir="5400000">
              <a:srgbClr val="000000">
                <a:alpha val="22000"/>
              </a:srgbClr>
            </a:outerShdw>
          </a:effectLst>
        </p:spPr>
      </p:sp>
      <p:sp>
        <p:nvSpPr>
          <p:cNvPr id="46" name="badge"/>
          <p:cNvSpPr/>
          <p:nvPr/>
        </p:nvSpPr>
        <p:spPr>
          <a:xfrm>
            <a:off x="9427464" y="4389120"/>
            <a:ext cx="384048" cy="384048"/>
          </a:xfrm>
          <a:prstGeom prst="ellipse">
            <a:avLst/>
          </a:prstGeom>
          <a:solidFill>
            <a:srgbClr val="F2A900"/>
          </a:solidFill>
          <a:ln w="6350">
            <a:solidFill>
              <a:srgbClr val="F2A900"/>
            </a:solidFill>
            <a:prstDash val="solid"/>
          </a:ln>
        </p:spPr>
      </p:sp>
      <p:sp>
        <p:nvSpPr>
          <p:cNvPr id="47" name="Text 40"/>
          <p:cNvSpPr txBox="1"/>
          <p:nvPr/>
        </p:nvSpPr>
        <p:spPr>
          <a:xfrm>
            <a:off x="9427464" y="4389120"/>
            <a:ext cx="384048" cy="384048"/>
          </a:xfrm>
          <a:prstGeom prst="rect">
            <a:avLst/>
          </a:prstGeom>
          <a:noFill/>
          <a:ln/>
        </p:spPr>
        <p:txBody>
          <a:bodyPr wrap="square" lIns="0" tIns="0" rIns="0" bIns="0" rtlCol="0" anchor="ctr"/>
          <a:lstStyle/>
          <a:p>
            <a:pPr algn="ctr" indent="0" marL="0">
              <a:buNone/>
            </a:pPr>
            <a:r>
              <a:rPr lang="en-US" sz="1300" b="1" dirty="0">
                <a:solidFill>
                  <a:srgbClr val="0E141B"/>
                </a:solidFill>
                <a:latin typeface="Calibri" pitchFamily="34" charset="0"/>
                <a:ea typeface="Calibri" pitchFamily="34" charset="-122"/>
                <a:cs typeface="Calibri" pitchFamily="34" charset="-120"/>
              </a:rPr>
              <a:t>5</a:t>
            </a:r>
            <a:endParaRPr lang="en-US" sz="1300" dirty="0"/>
          </a:p>
        </p:txBody>
      </p:sp>
      <p:sp>
        <p:nvSpPr>
          <p:cNvPr id="48" name="Text 41"/>
          <p:cNvSpPr txBox="1"/>
          <p:nvPr/>
        </p:nvSpPr>
        <p:spPr>
          <a:xfrm>
            <a:off x="9902952" y="4352544"/>
            <a:ext cx="1143000" cy="4754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Gemini AI</a:t>
            </a:r>
            <a:endParaRPr lang="en-US" sz="1400" dirty="0"/>
          </a:p>
        </p:txBody>
      </p:sp>
      <p:sp>
        <p:nvSpPr>
          <p:cNvPr id="49" name="iconcircle"/>
          <p:cNvSpPr/>
          <p:nvPr/>
        </p:nvSpPr>
        <p:spPr>
          <a:xfrm>
            <a:off x="11201400" y="4370832"/>
            <a:ext cx="384048" cy="384048"/>
          </a:xfrm>
          <a:prstGeom prst="ellipse">
            <a:avLst/>
          </a:prstGeom>
          <a:solidFill>
            <a:srgbClr val="F2A900">
              <a:alpha val="15000"/>
            </a:srgbClr>
          </a:solidFill>
          <a:ln w="6350">
            <a:solidFill>
              <a:srgbClr val="F2A900">
                <a:alpha val="15000"/>
              </a:srgbClr>
            </a:solidFill>
            <a:prstDash val="solid"/>
          </a:ln>
        </p:spPr>
      </p:sp>
      <p:pic>
        <p:nvPicPr>
          <p:cNvPr id="50" name="Image 5" descr="FaRobot">    </p:cNvPr>
          <p:cNvPicPr>
            <a:picLocks noChangeAspect="1"/>
          </p:cNvPicPr>
          <p:nvPr/>
        </p:nvPicPr>
        <p:blipFill>
          <a:blip r:embed="rId6"/>
          <a:stretch>
            <a:fillRect/>
          </a:stretch>
        </p:blipFill>
        <p:spPr>
          <a:xfrm>
            <a:off x="11293572" y="4463004"/>
            <a:ext cx="199705" cy="199705"/>
          </a:xfrm>
          <a:prstGeom prst="rect">
            <a:avLst/>
          </a:prstGeom>
        </p:spPr>
      </p:pic>
      <p:sp>
        <p:nvSpPr>
          <p:cNvPr id="51" name="Text 43"/>
          <p:cNvSpPr txBox="1"/>
          <p:nvPr/>
        </p:nvSpPr>
        <p:spPr>
          <a:xfrm>
            <a:off x="9445752" y="5001768"/>
            <a:ext cx="2103120" cy="1143000"/>
          </a:xfrm>
          <a:prstGeom prst="rect">
            <a:avLst/>
          </a:prstGeom>
          <a:noFill/>
          <a:ln/>
        </p:spPr>
        <p:txBody>
          <a:bodyPr wrap="square" lIns="0" tIns="0" rIns="0" bIns="0" rtlCol="0" anchor="t"/>
          <a:lstStyle/>
          <a:p>
            <a:pPr indent="0" marL="0">
              <a:buNone/>
            </a:pPr>
            <a:r>
              <a:rPr lang="en-US" sz="1300" dirty="0">
                <a:solidFill>
                  <a:srgbClr val="C9D3DE"/>
                </a:solidFill>
                <a:latin typeface="Calibri" pitchFamily="34" charset="0"/>
                <a:ea typeface="Calibri" pitchFamily="34" charset="-122"/>
                <a:cs typeface="Calibri" pitchFamily="34" charset="-120"/>
              </a:rPr>
              <a:t>Explains the detected risk using the supplied evidence and drafts suggested next steps</a:t>
            </a:r>
            <a:endParaRPr lang="en-US" sz="1300" dirty="0"/>
          </a:p>
        </p:txBody>
      </p:sp>
      <p:sp>
        <p:nvSpPr>
          <p:cNvPr id="52" name="stage6"/>
          <p:cNvSpPr/>
          <p:nvPr/>
        </p:nvSpPr>
        <p:spPr>
          <a:xfrm>
            <a:off x="6327648" y="4224528"/>
            <a:ext cx="2468880" cy="2057400"/>
          </a:xfrm>
          <a:prstGeom prst="roundRect">
            <a:avLst>
              <a:gd name="adj" fmla="val 5333"/>
            </a:avLst>
          </a:prstGeom>
          <a:solidFill>
            <a:srgbClr val="1F2B39"/>
          </a:solidFill>
          <a:ln w="9525">
            <a:solidFill>
              <a:srgbClr val="33465A"/>
            </a:solidFill>
            <a:prstDash val="solid"/>
          </a:ln>
          <a:effectLst>
            <a:outerShdw sx="100000" sy="100000" kx="0" ky="0" algn="bl" rotWithShape="0" blurRad="101600" dist="25400" dir="5400000">
              <a:srgbClr val="000000">
                <a:alpha val="22000"/>
              </a:srgbClr>
            </a:outerShdw>
          </a:effectLst>
        </p:spPr>
      </p:sp>
      <p:sp>
        <p:nvSpPr>
          <p:cNvPr id="53" name="badge"/>
          <p:cNvSpPr/>
          <p:nvPr/>
        </p:nvSpPr>
        <p:spPr>
          <a:xfrm>
            <a:off x="6492240" y="4389120"/>
            <a:ext cx="384048" cy="384048"/>
          </a:xfrm>
          <a:prstGeom prst="ellipse">
            <a:avLst/>
          </a:prstGeom>
          <a:solidFill>
            <a:srgbClr val="F2A900"/>
          </a:solidFill>
          <a:ln w="6350">
            <a:solidFill>
              <a:srgbClr val="F2A900"/>
            </a:solidFill>
            <a:prstDash val="solid"/>
          </a:ln>
        </p:spPr>
      </p:sp>
      <p:sp>
        <p:nvSpPr>
          <p:cNvPr id="54" name="Text 46"/>
          <p:cNvSpPr txBox="1"/>
          <p:nvPr/>
        </p:nvSpPr>
        <p:spPr>
          <a:xfrm>
            <a:off x="6492240" y="4389120"/>
            <a:ext cx="384048" cy="384048"/>
          </a:xfrm>
          <a:prstGeom prst="rect">
            <a:avLst/>
          </a:prstGeom>
          <a:noFill/>
          <a:ln/>
        </p:spPr>
        <p:txBody>
          <a:bodyPr wrap="square" lIns="0" tIns="0" rIns="0" bIns="0" rtlCol="0" anchor="ctr"/>
          <a:lstStyle/>
          <a:p>
            <a:pPr algn="ctr" indent="0" marL="0">
              <a:buNone/>
            </a:pPr>
            <a:r>
              <a:rPr lang="en-US" sz="1300" b="1" dirty="0">
                <a:solidFill>
                  <a:srgbClr val="0E141B"/>
                </a:solidFill>
                <a:latin typeface="Calibri" pitchFamily="34" charset="0"/>
                <a:ea typeface="Calibri" pitchFamily="34" charset="-122"/>
                <a:cs typeface="Calibri" pitchFamily="34" charset="-120"/>
              </a:rPr>
              <a:t>6</a:t>
            </a:r>
            <a:endParaRPr lang="en-US" sz="1300" dirty="0"/>
          </a:p>
        </p:txBody>
      </p:sp>
      <p:sp>
        <p:nvSpPr>
          <p:cNvPr id="55" name="Text 47"/>
          <p:cNvSpPr txBox="1"/>
          <p:nvPr/>
        </p:nvSpPr>
        <p:spPr>
          <a:xfrm>
            <a:off x="6967728" y="4352544"/>
            <a:ext cx="1143000" cy="4754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Automated Email Alert</a:t>
            </a:r>
            <a:endParaRPr lang="en-US" sz="1400" dirty="0"/>
          </a:p>
        </p:txBody>
      </p:sp>
      <p:sp>
        <p:nvSpPr>
          <p:cNvPr id="56" name="iconcircle"/>
          <p:cNvSpPr/>
          <p:nvPr/>
        </p:nvSpPr>
        <p:spPr>
          <a:xfrm>
            <a:off x="8266176" y="4370832"/>
            <a:ext cx="384048" cy="384048"/>
          </a:xfrm>
          <a:prstGeom prst="ellipse">
            <a:avLst/>
          </a:prstGeom>
          <a:solidFill>
            <a:srgbClr val="F2A900">
              <a:alpha val="15000"/>
            </a:srgbClr>
          </a:solidFill>
          <a:ln w="6350">
            <a:solidFill>
              <a:srgbClr val="F2A900">
                <a:alpha val="15000"/>
              </a:srgbClr>
            </a:solidFill>
            <a:prstDash val="solid"/>
          </a:ln>
        </p:spPr>
      </p:sp>
      <p:pic>
        <p:nvPicPr>
          <p:cNvPr id="57" name="Image 6" descr="FaEnvelope">    </p:cNvPr>
          <p:cNvPicPr>
            <a:picLocks noChangeAspect="1"/>
          </p:cNvPicPr>
          <p:nvPr/>
        </p:nvPicPr>
        <p:blipFill>
          <a:blip r:embed="rId7"/>
          <a:stretch>
            <a:fillRect/>
          </a:stretch>
        </p:blipFill>
        <p:spPr>
          <a:xfrm>
            <a:off x="8358348" y="4463004"/>
            <a:ext cx="199705" cy="199705"/>
          </a:xfrm>
          <a:prstGeom prst="rect">
            <a:avLst/>
          </a:prstGeom>
        </p:spPr>
      </p:pic>
      <p:sp>
        <p:nvSpPr>
          <p:cNvPr id="58" name="Text 49"/>
          <p:cNvSpPr txBox="1"/>
          <p:nvPr/>
        </p:nvSpPr>
        <p:spPr>
          <a:xfrm>
            <a:off x="6510528" y="5001768"/>
            <a:ext cx="2103120" cy="11887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C9D3DE"/>
                </a:solidFill>
                <a:latin typeface="Calibri" pitchFamily="34" charset="0"/>
                <a:ea typeface="Calibri" pitchFamily="34" charset="-122"/>
                <a:cs typeface="Calibri" pitchFamily="34" charset="-120"/>
              </a:rPr>
              <a:t>Risk</a:t>
            </a:r>
            <a:endParaRPr lang="en-US" sz="1300" dirty="0"/>
          </a:p>
          <a:p>
            <a:pPr marL="177800" indent="-177800">
              <a:spcAft>
                <a:spcPts val="400"/>
              </a:spcAft>
              <a:buSzPct val="100000"/>
              <a:buChar char="•"/>
            </a:pPr>
            <a:r>
              <a:rPr lang="en-US" sz="1300" dirty="0">
                <a:solidFill>
                  <a:srgbClr val="C9D3DE"/>
                </a:solidFill>
                <a:latin typeface="Calibri" pitchFamily="34" charset="0"/>
                <a:ea typeface="Calibri" pitchFamily="34" charset="-122"/>
                <a:cs typeface="Calibri" pitchFamily="34" charset="-120"/>
              </a:rPr>
              <a:t>Evidence</a:t>
            </a:r>
            <a:endParaRPr lang="en-US" sz="1300" dirty="0"/>
          </a:p>
          <a:p>
            <a:pPr marL="177800" indent="-177800">
              <a:spcAft>
                <a:spcPts val="400"/>
              </a:spcAft>
              <a:buSzPct val="100000"/>
              <a:buChar char="•"/>
            </a:pPr>
            <a:r>
              <a:rPr lang="en-US" sz="1300" dirty="0">
                <a:solidFill>
                  <a:srgbClr val="C9D3DE"/>
                </a:solidFill>
                <a:latin typeface="Calibri" pitchFamily="34" charset="0"/>
                <a:ea typeface="Calibri" pitchFamily="34" charset="-122"/>
                <a:cs typeface="Calibri" pitchFamily="34" charset="-120"/>
              </a:rPr>
              <a:t>Potential impact</a:t>
            </a:r>
            <a:endParaRPr lang="en-US" sz="1300" dirty="0"/>
          </a:p>
          <a:p>
            <a:pPr marL="177800" indent="-177800">
              <a:spcAft>
                <a:spcPts val="400"/>
              </a:spcAft>
              <a:buSzPct val="100000"/>
              <a:buChar char="•"/>
            </a:pPr>
            <a:r>
              <a:rPr lang="en-US" sz="1300" dirty="0">
                <a:solidFill>
                  <a:srgbClr val="C9D3DE"/>
                </a:solidFill>
                <a:latin typeface="Calibri" pitchFamily="34" charset="0"/>
                <a:ea typeface="Calibri" pitchFamily="34" charset="-122"/>
                <a:cs typeface="Calibri" pitchFamily="34" charset="-120"/>
              </a:rPr>
              <a:t>Recommended investigation</a:t>
            </a:r>
            <a:endParaRPr lang="en-US" sz="1300" dirty="0"/>
          </a:p>
        </p:txBody>
      </p:sp>
      <p:sp>
        <p:nvSpPr>
          <p:cNvPr id="59" name="stage7"/>
          <p:cNvSpPr/>
          <p:nvPr/>
        </p:nvSpPr>
        <p:spPr>
          <a:xfrm>
            <a:off x="3392424" y="4224528"/>
            <a:ext cx="2468880" cy="2057400"/>
          </a:xfrm>
          <a:prstGeom prst="roundRect">
            <a:avLst>
              <a:gd name="adj" fmla="val 5333"/>
            </a:avLst>
          </a:prstGeom>
          <a:solidFill>
            <a:srgbClr val="1F2B39"/>
          </a:solidFill>
          <a:ln w="9525">
            <a:solidFill>
              <a:srgbClr val="33465A"/>
            </a:solidFill>
            <a:prstDash val="solid"/>
          </a:ln>
          <a:effectLst>
            <a:outerShdw sx="100000" sy="100000" kx="0" ky="0" algn="bl" rotWithShape="0" blurRad="101600" dist="25400" dir="5400000">
              <a:srgbClr val="000000">
                <a:alpha val="22000"/>
              </a:srgbClr>
            </a:outerShdw>
          </a:effectLst>
        </p:spPr>
      </p:sp>
      <p:sp>
        <p:nvSpPr>
          <p:cNvPr id="60" name="badge"/>
          <p:cNvSpPr/>
          <p:nvPr/>
        </p:nvSpPr>
        <p:spPr>
          <a:xfrm>
            <a:off x="3557016" y="4389120"/>
            <a:ext cx="384048" cy="384048"/>
          </a:xfrm>
          <a:prstGeom prst="ellipse">
            <a:avLst/>
          </a:prstGeom>
          <a:solidFill>
            <a:srgbClr val="F2A900"/>
          </a:solidFill>
          <a:ln w="6350">
            <a:solidFill>
              <a:srgbClr val="F2A900"/>
            </a:solidFill>
            <a:prstDash val="solid"/>
          </a:ln>
        </p:spPr>
      </p:sp>
      <p:sp>
        <p:nvSpPr>
          <p:cNvPr id="61" name="Text 52"/>
          <p:cNvSpPr txBox="1"/>
          <p:nvPr/>
        </p:nvSpPr>
        <p:spPr>
          <a:xfrm>
            <a:off x="3557016" y="4389120"/>
            <a:ext cx="384048" cy="384048"/>
          </a:xfrm>
          <a:prstGeom prst="rect">
            <a:avLst/>
          </a:prstGeom>
          <a:noFill/>
          <a:ln/>
        </p:spPr>
        <p:txBody>
          <a:bodyPr wrap="square" lIns="0" tIns="0" rIns="0" bIns="0" rtlCol="0" anchor="ctr"/>
          <a:lstStyle/>
          <a:p>
            <a:pPr algn="ctr" indent="0" marL="0">
              <a:buNone/>
            </a:pPr>
            <a:r>
              <a:rPr lang="en-US" sz="1300" b="1" dirty="0">
                <a:solidFill>
                  <a:srgbClr val="0E141B"/>
                </a:solidFill>
                <a:latin typeface="Calibri" pitchFamily="34" charset="0"/>
                <a:ea typeface="Calibri" pitchFamily="34" charset="-122"/>
                <a:cs typeface="Calibri" pitchFamily="34" charset="-120"/>
              </a:rPr>
              <a:t>7</a:t>
            </a:r>
            <a:endParaRPr lang="en-US" sz="1300" dirty="0"/>
          </a:p>
        </p:txBody>
      </p:sp>
      <p:sp>
        <p:nvSpPr>
          <p:cNvPr id="62" name="Text 53"/>
          <p:cNvSpPr txBox="1"/>
          <p:nvPr/>
        </p:nvSpPr>
        <p:spPr>
          <a:xfrm>
            <a:off x="4032504" y="4352544"/>
            <a:ext cx="1143000" cy="4754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Human Decision and Follow-up</a:t>
            </a:r>
            <a:endParaRPr lang="en-US" sz="1400" dirty="0"/>
          </a:p>
        </p:txBody>
      </p:sp>
      <p:sp>
        <p:nvSpPr>
          <p:cNvPr id="63" name="iconcircle"/>
          <p:cNvSpPr/>
          <p:nvPr/>
        </p:nvSpPr>
        <p:spPr>
          <a:xfrm>
            <a:off x="5330952" y="4370832"/>
            <a:ext cx="384048" cy="384048"/>
          </a:xfrm>
          <a:prstGeom prst="ellipse">
            <a:avLst/>
          </a:prstGeom>
          <a:solidFill>
            <a:srgbClr val="F2A900">
              <a:alpha val="15000"/>
            </a:srgbClr>
          </a:solidFill>
          <a:ln w="6350">
            <a:solidFill>
              <a:srgbClr val="F2A900">
                <a:alpha val="15000"/>
              </a:srgbClr>
            </a:solidFill>
            <a:prstDash val="solid"/>
          </a:ln>
        </p:spPr>
      </p:sp>
      <p:pic>
        <p:nvPicPr>
          <p:cNvPr id="64" name="Image 7" descr="FaUserCheck">    </p:cNvPr>
          <p:cNvPicPr>
            <a:picLocks noChangeAspect="1"/>
          </p:cNvPicPr>
          <p:nvPr/>
        </p:nvPicPr>
        <p:blipFill>
          <a:blip r:embed="rId8"/>
          <a:stretch>
            <a:fillRect/>
          </a:stretch>
        </p:blipFill>
        <p:spPr>
          <a:xfrm>
            <a:off x="5423124" y="4463004"/>
            <a:ext cx="199705" cy="199705"/>
          </a:xfrm>
          <a:prstGeom prst="rect">
            <a:avLst/>
          </a:prstGeom>
        </p:spPr>
      </p:pic>
      <p:sp>
        <p:nvSpPr>
          <p:cNvPr id="65" name="Text 55"/>
          <p:cNvSpPr txBox="1"/>
          <p:nvPr/>
        </p:nvSpPr>
        <p:spPr>
          <a:xfrm>
            <a:off x="3575304" y="5001768"/>
            <a:ext cx="2103120" cy="1143000"/>
          </a:xfrm>
          <a:prstGeom prst="rect">
            <a:avLst/>
          </a:prstGeom>
          <a:noFill/>
          <a:ln/>
        </p:spPr>
        <p:txBody>
          <a:bodyPr wrap="square" lIns="0" tIns="0" rIns="0" bIns="0" rtlCol="0" anchor="t"/>
          <a:lstStyle/>
          <a:p>
            <a:pPr indent="0" marL="0">
              <a:buNone/>
            </a:pPr>
            <a:r>
              <a:rPr lang="en-US" sz="1300" dirty="0">
                <a:solidFill>
                  <a:srgbClr val="C9D3DE"/>
                </a:solidFill>
                <a:latin typeface="Calibri" pitchFamily="34" charset="0"/>
                <a:ea typeface="Calibri" pitchFamily="34" charset="-122"/>
                <a:cs typeface="Calibri" pitchFamily="34" charset="-120"/>
              </a:rPr>
              <a:t>Fleet manager investigates, maintenance team responds, dispatcher checks clearance, and the outcome is recorded</a:t>
            </a:r>
            <a:endParaRPr lang="en-US" sz="1300" dirty="0"/>
          </a:p>
        </p:txBody>
      </p:sp>
      <p:sp>
        <p:nvSpPr>
          <p:cNvPr id="66" name="tagline"/>
          <p:cNvSpPr txBox="1"/>
          <p:nvPr/>
        </p:nvSpPr>
        <p:spPr>
          <a:xfrm>
            <a:off x="457200" y="4224528"/>
            <a:ext cx="2651760" cy="2057400"/>
          </a:xfrm>
          <a:prstGeom prst="rect">
            <a:avLst/>
          </a:prstGeom>
          <a:noFill/>
          <a:ln/>
        </p:spPr>
        <p:txBody>
          <a:bodyPr wrap="square" lIns="0" tIns="0" rIns="0" bIns="0" rtlCol="0" anchor="ctr"/>
          <a:lstStyle/>
          <a:p>
            <a:pPr indent="0" marL="0">
              <a:buNone/>
            </a:pPr>
            <a:r>
              <a:rPr lang="en-US" sz="2600" b="1" i="1" dirty="0">
                <a:solidFill>
                  <a:srgbClr val="FFFFFF"/>
                </a:solidFill>
                <a:latin typeface="Cambria" pitchFamily="34" charset="0"/>
                <a:ea typeface="Cambria" pitchFamily="34" charset="-122"/>
                <a:cs typeface="Cambria" pitchFamily="34" charset="-120"/>
              </a:rPr>
              <a:t>Rules detect.</a:t>
            </a:r>
            <a:endParaRPr lang="en-US" sz="2600" dirty="0"/>
          </a:p>
          <a:p>
            <a:pPr indent="0" marL="0">
              <a:buNone/>
            </a:pPr>
            <a:r>
              <a:rPr lang="en-US" sz="2600" b="1" i="1" dirty="0">
                <a:solidFill>
                  <a:srgbClr val="2EC4B6"/>
                </a:solidFill>
                <a:latin typeface="Cambria" pitchFamily="34" charset="0"/>
                <a:ea typeface="Cambria" pitchFamily="34" charset="-122"/>
                <a:cs typeface="Cambria" pitchFamily="34" charset="-120"/>
              </a:rPr>
              <a:t>AI explains.</a:t>
            </a:r>
            <a:endParaRPr lang="en-US" sz="2600" dirty="0"/>
          </a:p>
          <a:p>
            <a:pPr indent="0" marL="0">
              <a:buNone/>
            </a:pPr>
            <a:r>
              <a:rPr lang="en-US" sz="2600" b="1" i="1" dirty="0">
                <a:solidFill>
                  <a:srgbClr val="F2A900"/>
                </a:solidFill>
                <a:latin typeface="Cambria" pitchFamily="34" charset="0"/>
                <a:ea typeface="Cambria" pitchFamily="34" charset="-122"/>
                <a:cs typeface="Cambria" pitchFamily="34" charset="-120"/>
              </a:rPr>
              <a:t>People decide.</a:t>
            </a:r>
            <a:endParaRPr lang="en-US" sz="2600" dirty="0"/>
          </a:p>
        </p:txBody>
      </p:sp>
      <p:sp>
        <p:nvSpPr>
          <p:cNvPr id="67" name="arrow"/>
          <p:cNvSpPr/>
          <p:nvPr/>
        </p:nvSpPr>
        <p:spPr>
          <a:xfrm>
            <a:off x="2926080" y="2606040"/>
            <a:ext cx="466344" cy="0"/>
          </a:xfrm>
          <a:prstGeom prst="line">
            <a:avLst/>
          </a:prstGeom>
          <a:noFill/>
          <a:ln w="25400">
            <a:solidFill>
              <a:srgbClr val="F2A900"/>
            </a:solidFill>
            <a:prstDash val="solid"/>
            <a:tailEnd type="triangle"/>
          </a:ln>
        </p:spPr>
      </p:sp>
      <p:sp>
        <p:nvSpPr>
          <p:cNvPr id="68" name="arrow"/>
          <p:cNvSpPr/>
          <p:nvPr/>
        </p:nvSpPr>
        <p:spPr>
          <a:xfrm>
            <a:off x="5861304" y="2606040"/>
            <a:ext cx="466344" cy="0"/>
          </a:xfrm>
          <a:prstGeom prst="line">
            <a:avLst/>
          </a:prstGeom>
          <a:noFill/>
          <a:ln w="25400">
            <a:solidFill>
              <a:srgbClr val="F2A900"/>
            </a:solidFill>
            <a:prstDash val="solid"/>
            <a:tailEnd type="triangle"/>
          </a:ln>
        </p:spPr>
      </p:sp>
      <p:sp>
        <p:nvSpPr>
          <p:cNvPr id="69" name="arrow"/>
          <p:cNvSpPr/>
          <p:nvPr/>
        </p:nvSpPr>
        <p:spPr>
          <a:xfrm>
            <a:off x="8796528" y="2606040"/>
            <a:ext cx="233172" cy="0"/>
          </a:xfrm>
          <a:prstGeom prst="line">
            <a:avLst/>
          </a:prstGeom>
          <a:noFill/>
          <a:ln w="25400">
            <a:solidFill>
              <a:srgbClr val="F2A900"/>
            </a:solidFill>
            <a:prstDash val="solid"/>
            <a:tailEnd type="triangle"/>
          </a:ln>
        </p:spPr>
      </p:sp>
      <p:sp>
        <p:nvSpPr>
          <p:cNvPr id="70" name="bus"/>
          <p:cNvSpPr/>
          <p:nvPr/>
        </p:nvSpPr>
        <p:spPr>
          <a:xfrm>
            <a:off x="9029700" y="1965960"/>
            <a:ext cx="0" cy="1280160"/>
          </a:xfrm>
          <a:prstGeom prst="line">
            <a:avLst/>
          </a:prstGeom>
          <a:noFill/>
          <a:ln w="25400">
            <a:solidFill>
              <a:srgbClr val="F2A900"/>
            </a:solidFill>
            <a:prstDash val="solid"/>
          </a:ln>
        </p:spPr>
      </p:sp>
      <p:sp>
        <p:nvSpPr>
          <p:cNvPr id="71" name="arrow"/>
          <p:cNvSpPr/>
          <p:nvPr/>
        </p:nvSpPr>
        <p:spPr>
          <a:xfrm>
            <a:off x="9029700" y="1965960"/>
            <a:ext cx="233172" cy="0"/>
          </a:xfrm>
          <a:prstGeom prst="line">
            <a:avLst/>
          </a:prstGeom>
          <a:noFill/>
          <a:ln w="25400">
            <a:solidFill>
              <a:srgbClr val="F2A900"/>
            </a:solidFill>
            <a:prstDash val="solid"/>
            <a:tailEnd type="triangle"/>
          </a:ln>
        </p:spPr>
      </p:sp>
      <p:sp>
        <p:nvSpPr>
          <p:cNvPr id="72" name="arrow"/>
          <p:cNvSpPr/>
          <p:nvPr/>
        </p:nvSpPr>
        <p:spPr>
          <a:xfrm>
            <a:off x="9029700" y="3246120"/>
            <a:ext cx="233172" cy="0"/>
          </a:xfrm>
          <a:prstGeom prst="line">
            <a:avLst/>
          </a:prstGeom>
          <a:noFill/>
          <a:ln w="25400">
            <a:solidFill>
              <a:srgbClr val="F2A900"/>
            </a:solidFill>
            <a:prstDash val="solid"/>
            <a:tailEnd type="triangle"/>
          </a:ln>
        </p:spPr>
      </p:sp>
      <p:sp>
        <p:nvSpPr>
          <p:cNvPr id="73" name="arrow"/>
          <p:cNvSpPr/>
          <p:nvPr/>
        </p:nvSpPr>
        <p:spPr>
          <a:xfrm>
            <a:off x="10497312" y="3840480"/>
            <a:ext cx="0" cy="384048"/>
          </a:xfrm>
          <a:prstGeom prst="line">
            <a:avLst/>
          </a:prstGeom>
          <a:noFill/>
          <a:ln w="25400">
            <a:solidFill>
              <a:srgbClr val="F2A900"/>
            </a:solidFill>
            <a:prstDash val="solid"/>
            <a:tailEnd type="triangle"/>
          </a:ln>
        </p:spPr>
      </p:sp>
      <p:sp>
        <p:nvSpPr>
          <p:cNvPr id="74" name="arrow"/>
          <p:cNvSpPr/>
          <p:nvPr/>
        </p:nvSpPr>
        <p:spPr>
          <a:xfrm>
            <a:off x="8796528" y="5257800"/>
            <a:ext cx="466344" cy="0"/>
          </a:xfrm>
          <a:prstGeom prst="line">
            <a:avLst/>
          </a:prstGeom>
          <a:noFill/>
          <a:ln w="25400">
            <a:solidFill>
              <a:srgbClr val="F2A900"/>
            </a:solidFill>
            <a:prstDash val="solid"/>
            <a:headEnd type="triangle"/>
          </a:ln>
        </p:spPr>
      </p:sp>
      <p:sp>
        <p:nvSpPr>
          <p:cNvPr id="75" name="arrow"/>
          <p:cNvSpPr/>
          <p:nvPr/>
        </p:nvSpPr>
        <p:spPr>
          <a:xfrm>
            <a:off x="5861304" y="5257800"/>
            <a:ext cx="466344" cy="0"/>
          </a:xfrm>
          <a:prstGeom prst="line">
            <a:avLst/>
          </a:prstGeom>
          <a:noFill/>
          <a:ln w="25400">
            <a:solidFill>
              <a:srgbClr val="F2A900"/>
            </a:solidFill>
            <a:prstDash val="solid"/>
            <a:headEnd type="triangle"/>
          </a:ln>
        </p:spPr>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300" kern="0" dirty="0">
                <a:solidFill>
                  <a:srgbClr val="F2A900"/>
                </a:solidFill>
                <a:latin typeface="Calibri" pitchFamily="34" charset="0"/>
                <a:ea typeface="Calibri" pitchFamily="34" charset="-122"/>
                <a:cs typeface="Calibri" pitchFamily="34" charset="-120"/>
              </a:rPr>
              <a:t>THE PROBLEM IN ONE SENTENCE</a:t>
            </a:r>
            <a:endParaRPr lang="en-US" sz="1200" dirty="0"/>
          </a:p>
        </p:txBody>
      </p:sp>
      <p:sp>
        <p:nvSpPr>
          <p:cNvPr id="3" name="Text 0"/>
          <p:cNvSpPr/>
          <p:nvPr>
            <p:ph idx="100" type="title" hasCustomPrompt="1"/>
          </p:nvPr>
        </p:nvSpPr>
        <p:spPr>
          <a:xfrm>
            <a:off x="457200" y="566928"/>
            <a:ext cx="11247120" cy="914400"/>
          </a:xfrm>
          <a:prstGeom prst="rect">
            <a:avLst/>
          </a:prstGeom>
          <a:noFill/>
          <a:ln/>
        </p:spPr>
        <p:txBody>
          <a:bodyPr wrap="square" lIns="0" tIns="0" rIns="0" bIns="0" rtlCol="0" anchor="t"/>
          <a:lstStyle/>
          <a:p>
            <a:pPr algn="l" indent="0" marL="0">
              <a:buNone/>
            </a:pPr>
            <a:r>
              <a:rPr lang="en-US" sz="3000" b="1" dirty="0">
                <a:solidFill>
                  <a:srgbClr val="FFFFFF"/>
                </a:solidFill>
                <a:latin typeface="Cambria" pitchFamily="34" charset="0"/>
                <a:ea typeface="Cambria" pitchFamily="34" charset="-122"/>
                <a:cs typeface="Cambria" pitchFamily="34" charset="-120"/>
              </a:rPr>
              <a:t>Ndovu sees its trucks every 10 minutes and still finds the problem after the loss</a:t>
            </a:r>
            <a:endParaRPr lang="en-US" sz="3000" dirty="0"/>
          </a:p>
        </p:txBody>
      </p:sp>
      <p:sp>
        <p:nvSpPr>
          <p:cNvPr id="4" name="statement"/>
          <p:cNvSpPr txBox="1"/>
          <p:nvPr/>
        </p:nvSpPr>
        <p:spPr>
          <a:xfrm>
            <a:off x="457200" y="1828800"/>
            <a:ext cx="5760720" cy="2926080"/>
          </a:xfrm>
          <a:prstGeom prst="rect">
            <a:avLst/>
          </a:prstGeom>
          <a:noFill/>
          <a:ln/>
        </p:spPr>
        <p:txBody>
          <a:bodyPr wrap="square" lIns="0" tIns="0" rIns="0" bIns="0" rtlCol="0" anchor="t"/>
          <a:lstStyle/>
          <a:p>
            <a:pPr indent="0" marL="0">
              <a:lnSpc>
                <a:spcPct val="110000"/>
              </a:lnSpc>
              <a:buNone/>
            </a:pPr>
            <a:r>
              <a:rPr lang="en-US" sz="2000" dirty="0">
                <a:solidFill>
                  <a:srgbClr val="C9D3DE"/>
                </a:solidFill>
                <a:latin typeface="Calibri" pitchFamily="34" charset="0"/>
                <a:ea typeface="Calibri" pitchFamily="34" charset="-122"/>
                <a:cs typeface="Calibri" pitchFamily="34" charset="-120"/>
              </a:rPr>
              <a:t>Breakdowns and fuel are managed by generic service intervals and month-end invoices. The signals that could prevent the loss already exist in telematics, fuel cards, the TMS and the workshop, but they sit in four portals that nobody joins and nobody interprets in time.</a:t>
            </a:r>
            <a:endParaRPr lang="en-US" sz="2000" dirty="0"/>
          </a:p>
        </p:txBody>
      </p:sp>
      <p:sp>
        <p:nvSpPr>
          <p:cNvPr id="5" name="Text 3"/>
          <p:cNvSpPr txBox="1"/>
          <p:nvPr/>
        </p:nvSpPr>
        <p:spPr>
          <a:xfrm>
            <a:off x="457200" y="5029200"/>
            <a:ext cx="5760720" cy="548640"/>
          </a:xfrm>
          <a:prstGeom prst="rect">
            <a:avLst/>
          </a:prstGeom>
          <a:noFill/>
          <a:ln/>
        </p:spPr>
        <p:txBody>
          <a:bodyPr wrap="square" lIns="0" tIns="0" rIns="0" bIns="0" rtlCol="0" anchor="t"/>
          <a:lstStyle/>
          <a:p>
            <a:pPr indent="0" marL="0">
              <a:buNone/>
            </a:pPr>
            <a:r>
              <a:rPr lang="en-US" sz="1300" i="1" dirty="0">
                <a:solidFill>
                  <a:srgbClr val="8FA3B8"/>
                </a:solidFill>
                <a:latin typeface="Calibri" pitchFamily="34" charset="0"/>
                <a:ea typeface="Calibri" pitchFamily="34" charset="-122"/>
                <a:cs typeface="Calibri" pitchFamily="34" charset="-120"/>
              </a:rPr>
              <a:t>Ndovu Haulage Ltd is a fictional Kenyan haulier used as the case study.</a:t>
            </a:r>
            <a:endParaRPr lang="en-US" sz="1300" dirty="0"/>
          </a:p>
        </p:txBody>
      </p:sp>
      <p:sp>
        <p:nvSpPr>
          <p:cNvPr id="6" name="tile0"/>
          <p:cNvSpPr/>
          <p:nvPr/>
        </p:nvSpPr>
        <p:spPr>
          <a:xfrm>
            <a:off x="6766560" y="1783080"/>
            <a:ext cx="2331720" cy="2011680"/>
          </a:xfrm>
          <a:prstGeom prst="roundRect">
            <a:avLst>
              <a:gd name="adj" fmla="val 5455"/>
            </a:avLst>
          </a:prstGeom>
          <a:solidFill>
            <a:srgbClr val="1F2B39"/>
          </a:solidFill>
          <a:ln w="9525">
            <a:solidFill>
              <a:srgbClr val="33465A"/>
            </a:solidFill>
            <a:prstDash val="solid"/>
          </a:ln>
          <a:effectLst>
            <a:outerShdw sx="100000" sy="100000" kx="0" ky="0" algn="bl" rotWithShape="0" blurRad="101600" dist="25400" dir="5400000">
              <a:srgbClr val="000000">
                <a:alpha val="22000"/>
              </a:srgbClr>
            </a:outerShdw>
          </a:effectLst>
        </p:spPr>
      </p:sp>
      <p:sp>
        <p:nvSpPr>
          <p:cNvPr id="7" name="iconcircle"/>
          <p:cNvSpPr/>
          <p:nvPr/>
        </p:nvSpPr>
        <p:spPr>
          <a:xfrm>
            <a:off x="6995160" y="2011680"/>
            <a:ext cx="457200" cy="457200"/>
          </a:xfrm>
          <a:prstGeom prst="ellipse">
            <a:avLst/>
          </a:prstGeom>
          <a:solidFill>
            <a:srgbClr val="F2A900">
              <a:alpha val="15000"/>
            </a:srgbClr>
          </a:solidFill>
          <a:ln w="6350">
            <a:solidFill>
              <a:srgbClr val="F2A900">
                <a:alpha val="15000"/>
              </a:srgbClr>
            </a:solidFill>
            <a:prstDash val="solid"/>
          </a:ln>
        </p:spPr>
      </p:sp>
      <p:pic>
        <p:nvPicPr>
          <p:cNvPr id="8" name="Image 0" descr="FaTruck">    </p:cNvPr>
          <p:cNvPicPr>
            <a:picLocks noChangeAspect="1"/>
          </p:cNvPicPr>
          <p:nvPr/>
        </p:nvPicPr>
        <p:blipFill>
          <a:blip r:embed="rId1"/>
          <a:stretch>
            <a:fillRect/>
          </a:stretch>
        </p:blipFill>
        <p:spPr>
          <a:xfrm>
            <a:off x="7104888" y="2121408"/>
            <a:ext cx="237744" cy="237744"/>
          </a:xfrm>
          <a:prstGeom prst="rect">
            <a:avLst/>
          </a:prstGeom>
        </p:spPr>
      </p:pic>
      <p:sp>
        <p:nvSpPr>
          <p:cNvPr id="9" name="Text 6"/>
          <p:cNvSpPr txBox="1"/>
          <p:nvPr/>
        </p:nvSpPr>
        <p:spPr>
          <a:xfrm>
            <a:off x="6995160" y="2560320"/>
            <a:ext cx="1920240" cy="731520"/>
          </a:xfrm>
          <a:prstGeom prst="rect">
            <a:avLst/>
          </a:prstGeom>
          <a:noFill/>
          <a:ln/>
        </p:spPr>
        <p:txBody>
          <a:bodyPr wrap="square" lIns="0" tIns="0" rIns="0" bIns="0" rtlCol="0" anchor="ctr"/>
          <a:lstStyle/>
          <a:p>
            <a:pPr indent="0" marL="0">
              <a:buNone/>
            </a:pPr>
            <a:r>
              <a:rPr lang="en-US" sz="4400" b="1" dirty="0">
                <a:solidFill>
                  <a:srgbClr val="F2A900"/>
                </a:solidFill>
                <a:latin typeface="Cambria" pitchFamily="34" charset="0"/>
                <a:ea typeface="Cambria" pitchFamily="34" charset="-122"/>
                <a:cs typeface="Cambria" pitchFamily="34" charset="-120"/>
              </a:rPr>
              <a:t>40</a:t>
            </a:r>
            <a:endParaRPr lang="en-US" sz="4400" dirty="0"/>
          </a:p>
        </p:txBody>
      </p:sp>
      <p:sp>
        <p:nvSpPr>
          <p:cNvPr id="10" name="Text 7"/>
          <p:cNvSpPr txBox="1"/>
          <p:nvPr/>
        </p:nvSpPr>
        <p:spPr>
          <a:xfrm>
            <a:off x="6995160" y="3246120"/>
            <a:ext cx="1920240" cy="365760"/>
          </a:xfrm>
          <a:prstGeom prst="rect">
            <a:avLst/>
          </a:prstGeom>
          <a:noFill/>
          <a:ln/>
        </p:spPr>
        <p:txBody>
          <a:bodyPr wrap="square" lIns="0" tIns="0" rIns="0" bIns="0" rtlCol="0" anchor="t"/>
          <a:lstStyle/>
          <a:p>
            <a:pPr indent="0" marL="0">
              <a:buNone/>
            </a:pPr>
            <a:r>
              <a:rPr lang="en-US" sz="1400" dirty="0">
                <a:solidFill>
                  <a:srgbClr val="C9D3DE"/>
                </a:solidFill>
                <a:latin typeface="Calibri" pitchFamily="34" charset="0"/>
                <a:ea typeface="Calibri" pitchFamily="34" charset="-122"/>
                <a:cs typeface="Calibri" pitchFamily="34" charset="-120"/>
              </a:rPr>
              <a:t>trucks</a:t>
            </a:r>
            <a:endParaRPr lang="en-US" sz="1400" dirty="0"/>
          </a:p>
        </p:txBody>
      </p:sp>
      <p:sp>
        <p:nvSpPr>
          <p:cNvPr id="11" name="tile1"/>
          <p:cNvSpPr/>
          <p:nvPr/>
        </p:nvSpPr>
        <p:spPr>
          <a:xfrm>
            <a:off x="9281160" y="1783080"/>
            <a:ext cx="2331720" cy="2011680"/>
          </a:xfrm>
          <a:prstGeom prst="roundRect">
            <a:avLst>
              <a:gd name="adj" fmla="val 5455"/>
            </a:avLst>
          </a:prstGeom>
          <a:solidFill>
            <a:srgbClr val="1F2B39"/>
          </a:solidFill>
          <a:ln w="9525">
            <a:solidFill>
              <a:srgbClr val="33465A"/>
            </a:solidFill>
            <a:prstDash val="solid"/>
          </a:ln>
          <a:effectLst>
            <a:outerShdw sx="100000" sy="100000" kx="0" ky="0" algn="bl" rotWithShape="0" blurRad="101600" dist="25400" dir="5400000">
              <a:srgbClr val="000000">
                <a:alpha val="22000"/>
              </a:srgbClr>
            </a:outerShdw>
          </a:effectLst>
        </p:spPr>
      </p:sp>
      <p:sp>
        <p:nvSpPr>
          <p:cNvPr id="12" name="iconcircle"/>
          <p:cNvSpPr/>
          <p:nvPr/>
        </p:nvSpPr>
        <p:spPr>
          <a:xfrm>
            <a:off x="9509760" y="2011680"/>
            <a:ext cx="457200" cy="457200"/>
          </a:xfrm>
          <a:prstGeom prst="ellipse">
            <a:avLst/>
          </a:prstGeom>
          <a:solidFill>
            <a:srgbClr val="F2A900">
              <a:alpha val="15000"/>
            </a:srgbClr>
          </a:solidFill>
          <a:ln w="6350">
            <a:solidFill>
              <a:srgbClr val="F2A900">
                <a:alpha val="15000"/>
              </a:srgbClr>
            </a:solidFill>
            <a:prstDash val="solid"/>
          </a:ln>
        </p:spPr>
      </p:sp>
      <p:pic>
        <p:nvPicPr>
          <p:cNvPr id="13" name="Image 1" descr="FaUserCheck">    </p:cNvPr>
          <p:cNvPicPr>
            <a:picLocks noChangeAspect="1"/>
          </p:cNvPicPr>
          <p:nvPr/>
        </p:nvPicPr>
        <p:blipFill>
          <a:blip r:embed="rId2"/>
          <a:stretch>
            <a:fillRect/>
          </a:stretch>
        </p:blipFill>
        <p:spPr>
          <a:xfrm>
            <a:off x="9619488" y="2121408"/>
            <a:ext cx="237744" cy="237744"/>
          </a:xfrm>
          <a:prstGeom prst="rect">
            <a:avLst/>
          </a:prstGeom>
        </p:spPr>
      </p:pic>
      <p:sp>
        <p:nvSpPr>
          <p:cNvPr id="14" name="Text 10"/>
          <p:cNvSpPr txBox="1"/>
          <p:nvPr/>
        </p:nvSpPr>
        <p:spPr>
          <a:xfrm>
            <a:off x="9509760" y="2560320"/>
            <a:ext cx="1920240" cy="731520"/>
          </a:xfrm>
          <a:prstGeom prst="rect">
            <a:avLst/>
          </a:prstGeom>
          <a:noFill/>
          <a:ln/>
        </p:spPr>
        <p:txBody>
          <a:bodyPr wrap="square" lIns="0" tIns="0" rIns="0" bIns="0" rtlCol="0" anchor="ctr"/>
          <a:lstStyle/>
          <a:p>
            <a:pPr indent="0" marL="0">
              <a:buNone/>
            </a:pPr>
            <a:r>
              <a:rPr lang="en-US" sz="4400" b="1" dirty="0">
                <a:solidFill>
                  <a:srgbClr val="F2A900"/>
                </a:solidFill>
                <a:latin typeface="Cambria" pitchFamily="34" charset="0"/>
                <a:ea typeface="Cambria" pitchFamily="34" charset="-122"/>
                <a:cs typeface="Cambria" pitchFamily="34" charset="-120"/>
              </a:rPr>
              <a:t>48</a:t>
            </a:r>
            <a:endParaRPr lang="en-US" sz="4400" dirty="0"/>
          </a:p>
        </p:txBody>
      </p:sp>
      <p:sp>
        <p:nvSpPr>
          <p:cNvPr id="15" name="Text 11"/>
          <p:cNvSpPr txBox="1"/>
          <p:nvPr/>
        </p:nvSpPr>
        <p:spPr>
          <a:xfrm>
            <a:off x="9509760" y="3246120"/>
            <a:ext cx="1920240" cy="365760"/>
          </a:xfrm>
          <a:prstGeom prst="rect">
            <a:avLst/>
          </a:prstGeom>
          <a:noFill/>
          <a:ln/>
        </p:spPr>
        <p:txBody>
          <a:bodyPr wrap="square" lIns="0" tIns="0" rIns="0" bIns="0" rtlCol="0" anchor="t"/>
          <a:lstStyle/>
          <a:p>
            <a:pPr indent="0" marL="0">
              <a:buNone/>
            </a:pPr>
            <a:r>
              <a:rPr lang="en-US" sz="1400" dirty="0">
                <a:solidFill>
                  <a:srgbClr val="C9D3DE"/>
                </a:solidFill>
                <a:latin typeface="Calibri" pitchFamily="34" charset="0"/>
                <a:ea typeface="Calibri" pitchFamily="34" charset="-122"/>
                <a:cs typeface="Calibri" pitchFamily="34" charset="-120"/>
              </a:rPr>
              <a:t>drivers</a:t>
            </a:r>
            <a:endParaRPr lang="en-US" sz="1400" dirty="0"/>
          </a:p>
        </p:txBody>
      </p:sp>
      <p:sp>
        <p:nvSpPr>
          <p:cNvPr id="16" name="tile2"/>
          <p:cNvSpPr/>
          <p:nvPr/>
        </p:nvSpPr>
        <p:spPr>
          <a:xfrm>
            <a:off x="6766560" y="3977640"/>
            <a:ext cx="2331720" cy="2011680"/>
          </a:xfrm>
          <a:prstGeom prst="roundRect">
            <a:avLst>
              <a:gd name="adj" fmla="val 5455"/>
            </a:avLst>
          </a:prstGeom>
          <a:solidFill>
            <a:srgbClr val="1F2B39"/>
          </a:solidFill>
          <a:ln w="9525">
            <a:solidFill>
              <a:srgbClr val="33465A"/>
            </a:solidFill>
            <a:prstDash val="solid"/>
          </a:ln>
          <a:effectLst>
            <a:outerShdw sx="100000" sy="100000" kx="0" ky="0" algn="bl" rotWithShape="0" blurRad="101600" dist="25400" dir="5400000">
              <a:srgbClr val="000000">
                <a:alpha val="22000"/>
              </a:srgbClr>
            </a:outerShdw>
          </a:effectLst>
        </p:spPr>
      </p:sp>
      <p:sp>
        <p:nvSpPr>
          <p:cNvPr id="17" name="iconcircle"/>
          <p:cNvSpPr/>
          <p:nvPr/>
        </p:nvSpPr>
        <p:spPr>
          <a:xfrm>
            <a:off x="6995160" y="4206240"/>
            <a:ext cx="457200" cy="457200"/>
          </a:xfrm>
          <a:prstGeom prst="ellipse">
            <a:avLst/>
          </a:prstGeom>
          <a:solidFill>
            <a:srgbClr val="F2A900">
              <a:alpha val="15000"/>
            </a:srgbClr>
          </a:solidFill>
          <a:ln w="6350">
            <a:solidFill>
              <a:srgbClr val="F2A900">
                <a:alpha val="15000"/>
              </a:srgbClr>
            </a:solidFill>
            <a:prstDash val="solid"/>
          </a:ln>
        </p:spPr>
      </p:sp>
      <p:pic>
        <p:nvPicPr>
          <p:cNvPr id="18" name="Image 2" descr="FaRoute">    </p:cNvPr>
          <p:cNvPicPr>
            <a:picLocks noChangeAspect="1"/>
          </p:cNvPicPr>
          <p:nvPr/>
        </p:nvPicPr>
        <p:blipFill>
          <a:blip r:embed="rId3"/>
          <a:stretch>
            <a:fillRect/>
          </a:stretch>
        </p:blipFill>
        <p:spPr>
          <a:xfrm>
            <a:off x="7104888" y="4315968"/>
            <a:ext cx="237744" cy="237744"/>
          </a:xfrm>
          <a:prstGeom prst="rect">
            <a:avLst/>
          </a:prstGeom>
        </p:spPr>
      </p:pic>
      <p:sp>
        <p:nvSpPr>
          <p:cNvPr id="19" name="Text 14"/>
          <p:cNvSpPr txBox="1"/>
          <p:nvPr/>
        </p:nvSpPr>
        <p:spPr>
          <a:xfrm>
            <a:off x="6995160" y="4754880"/>
            <a:ext cx="1920240" cy="731520"/>
          </a:xfrm>
          <a:prstGeom prst="rect">
            <a:avLst/>
          </a:prstGeom>
          <a:noFill/>
          <a:ln/>
        </p:spPr>
        <p:txBody>
          <a:bodyPr wrap="square" lIns="0" tIns="0" rIns="0" bIns="0" rtlCol="0" anchor="ctr"/>
          <a:lstStyle/>
          <a:p>
            <a:pPr indent="0" marL="0">
              <a:buNone/>
            </a:pPr>
            <a:r>
              <a:rPr lang="en-US" sz="4400" b="1" dirty="0">
                <a:solidFill>
                  <a:srgbClr val="F2A900"/>
                </a:solidFill>
                <a:latin typeface="Cambria" pitchFamily="34" charset="0"/>
                <a:ea typeface="Cambria" pitchFamily="34" charset="-122"/>
                <a:cs typeface="Cambria" pitchFamily="34" charset="-120"/>
              </a:rPr>
              <a:t>8</a:t>
            </a:r>
            <a:endParaRPr lang="en-US" sz="4400" dirty="0"/>
          </a:p>
        </p:txBody>
      </p:sp>
      <p:sp>
        <p:nvSpPr>
          <p:cNvPr id="20" name="Text 15"/>
          <p:cNvSpPr txBox="1"/>
          <p:nvPr/>
        </p:nvSpPr>
        <p:spPr>
          <a:xfrm>
            <a:off x="6995160" y="5440680"/>
            <a:ext cx="1920240" cy="365760"/>
          </a:xfrm>
          <a:prstGeom prst="rect">
            <a:avLst/>
          </a:prstGeom>
          <a:noFill/>
          <a:ln/>
        </p:spPr>
        <p:txBody>
          <a:bodyPr wrap="square" lIns="0" tIns="0" rIns="0" bIns="0" rtlCol="0" anchor="t"/>
          <a:lstStyle/>
          <a:p>
            <a:pPr indent="0" marL="0">
              <a:buNone/>
            </a:pPr>
            <a:r>
              <a:rPr lang="en-US" sz="1400" dirty="0">
                <a:solidFill>
                  <a:srgbClr val="C9D3DE"/>
                </a:solidFill>
                <a:latin typeface="Calibri" pitchFamily="34" charset="0"/>
                <a:ea typeface="Calibri" pitchFamily="34" charset="-122"/>
                <a:cs typeface="Calibri" pitchFamily="34" charset="-120"/>
              </a:rPr>
              <a:t>corridors</a:t>
            </a:r>
            <a:endParaRPr lang="en-US" sz="1400" dirty="0"/>
          </a:p>
        </p:txBody>
      </p:sp>
      <p:sp>
        <p:nvSpPr>
          <p:cNvPr id="21" name="tile3"/>
          <p:cNvSpPr/>
          <p:nvPr/>
        </p:nvSpPr>
        <p:spPr>
          <a:xfrm>
            <a:off x="9281160" y="3977640"/>
            <a:ext cx="2331720" cy="2011680"/>
          </a:xfrm>
          <a:prstGeom prst="roundRect">
            <a:avLst>
              <a:gd name="adj" fmla="val 5455"/>
            </a:avLst>
          </a:prstGeom>
          <a:solidFill>
            <a:srgbClr val="1F2B39"/>
          </a:solidFill>
          <a:ln w="9525">
            <a:solidFill>
              <a:srgbClr val="33465A"/>
            </a:solidFill>
            <a:prstDash val="solid"/>
          </a:ln>
          <a:effectLst>
            <a:outerShdw sx="100000" sy="100000" kx="0" ky="0" algn="bl" rotWithShape="0" blurRad="101600" dist="25400" dir="5400000">
              <a:srgbClr val="000000">
                <a:alpha val="22000"/>
              </a:srgbClr>
            </a:outerShdw>
          </a:effectLst>
        </p:spPr>
      </p:sp>
      <p:sp>
        <p:nvSpPr>
          <p:cNvPr id="22" name="iconcircle"/>
          <p:cNvSpPr/>
          <p:nvPr/>
        </p:nvSpPr>
        <p:spPr>
          <a:xfrm>
            <a:off x="9509760" y="4206240"/>
            <a:ext cx="457200" cy="457200"/>
          </a:xfrm>
          <a:prstGeom prst="ellipse">
            <a:avLst/>
          </a:prstGeom>
          <a:solidFill>
            <a:srgbClr val="F2A900">
              <a:alpha val="15000"/>
            </a:srgbClr>
          </a:solidFill>
          <a:ln w="6350">
            <a:solidFill>
              <a:srgbClr val="F2A900">
                <a:alpha val="15000"/>
              </a:srgbClr>
            </a:solidFill>
            <a:prstDash val="solid"/>
          </a:ln>
        </p:spPr>
      </p:sp>
      <p:pic>
        <p:nvPicPr>
          <p:cNvPr id="23" name="Image 3" descr="FaRoad">    </p:cNvPr>
          <p:cNvPicPr>
            <a:picLocks noChangeAspect="1"/>
          </p:cNvPicPr>
          <p:nvPr/>
        </p:nvPicPr>
        <p:blipFill>
          <a:blip r:embed="rId4"/>
          <a:stretch>
            <a:fillRect/>
          </a:stretch>
        </p:blipFill>
        <p:spPr>
          <a:xfrm>
            <a:off x="9619488" y="4315968"/>
            <a:ext cx="237744" cy="237744"/>
          </a:xfrm>
          <a:prstGeom prst="rect">
            <a:avLst/>
          </a:prstGeom>
        </p:spPr>
      </p:pic>
      <p:sp>
        <p:nvSpPr>
          <p:cNvPr id="24" name="Text 18"/>
          <p:cNvSpPr txBox="1"/>
          <p:nvPr/>
        </p:nvSpPr>
        <p:spPr>
          <a:xfrm>
            <a:off x="9509760" y="4754880"/>
            <a:ext cx="1920240" cy="731520"/>
          </a:xfrm>
          <a:prstGeom prst="rect">
            <a:avLst/>
          </a:prstGeom>
          <a:noFill/>
          <a:ln/>
        </p:spPr>
        <p:txBody>
          <a:bodyPr wrap="square" lIns="0" tIns="0" rIns="0" bIns="0" rtlCol="0" anchor="ctr"/>
          <a:lstStyle/>
          <a:p>
            <a:pPr indent="0" marL="0">
              <a:buNone/>
            </a:pPr>
            <a:r>
              <a:rPr lang="en-US" sz="4400" b="1" dirty="0">
                <a:solidFill>
                  <a:srgbClr val="F2A900"/>
                </a:solidFill>
                <a:latin typeface="Cambria" pitchFamily="34" charset="0"/>
                <a:ea typeface="Cambria" pitchFamily="34" charset="-122"/>
                <a:cs typeface="Cambria" pitchFamily="34" charset="-120"/>
              </a:rPr>
              <a:t>3,241</a:t>
            </a:r>
            <a:endParaRPr lang="en-US" sz="4400" dirty="0"/>
          </a:p>
        </p:txBody>
      </p:sp>
      <p:sp>
        <p:nvSpPr>
          <p:cNvPr id="25" name="Text 19"/>
          <p:cNvSpPr txBox="1"/>
          <p:nvPr/>
        </p:nvSpPr>
        <p:spPr>
          <a:xfrm>
            <a:off x="9509760" y="5440680"/>
            <a:ext cx="1920240" cy="365760"/>
          </a:xfrm>
          <a:prstGeom prst="rect">
            <a:avLst/>
          </a:prstGeom>
          <a:noFill/>
          <a:ln/>
        </p:spPr>
        <p:txBody>
          <a:bodyPr wrap="square" lIns="0" tIns="0" rIns="0" bIns="0" rtlCol="0" anchor="t"/>
          <a:lstStyle/>
          <a:p>
            <a:pPr indent="0" marL="0">
              <a:buNone/>
            </a:pPr>
            <a:r>
              <a:rPr lang="en-US" sz="1400" dirty="0">
                <a:solidFill>
                  <a:srgbClr val="C9D3DE"/>
                </a:solidFill>
                <a:latin typeface="Calibri" pitchFamily="34" charset="0"/>
                <a:ea typeface="Calibri" pitchFamily="34" charset="-122"/>
                <a:cs typeface="Calibri" pitchFamily="34" charset="-120"/>
              </a:rPr>
              <a:t>trips in one quarter</a:t>
            </a:r>
            <a:endParaRPr lang="en-US" sz="14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300" kern="0" dirty="0">
                <a:solidFill>
                  <a:srgbClr val="E4572E"/>
                </a:solidFill>
                <a:latin typeface="Calibri" pitchFamily="34" charset="0"/>
                <a:ea typeface="Calibri" pitchFamily="34" charset="-122"/>
                <a:cs typeface="Calibri" pitchFamily="34" charset="-120"/>
              </a:rPr>
              <a:t>WHERE NDOVU OPERATES</a:t>
            </a:r>
            <a:endParaRPr lang="en-US" sz="1200" dirty="0"/>
          </a:p>
        </p:txBody>
      </p:sp>
      <p:sp>
        <p:nvSpPr>
          <p:cNvPr id="3" name="Text 0"/>
          <p:cNvSpPr/>
          <p:nvPr>
            <p:ph idx="100" type="title" hasCustomPrompt="1"/>
          </p:nvPr>
        </p:nvSpPr>
        <p:spPr>
          <a:xfrm>
            <a:off x="457200" y="566928"/>
            <a:ext cx="11247120" cy="914400"/>
          </a:xfrm>
          <a:prstGeom prst="rect">
            <a:avLst/>
          </a:prstGeom>
          <a:noFill/>
          <a:ln/>
        </p:spPr>
        <p:txBody>
          <a:bodyPr wrap="square" lIns="0" tIns="0" rIns="0" bIns="0" rtlCol="0" anchor="t"/>
          <a:lstStyle/>
          <a:p>
            <a:pPr algn="l" indent="0" marL="0">
              <a:buNone/>
            </a:pPr>
            <a:r>
              <a:rPr lang="en-US" sz="3000" b="1" dirty="0">
                <a:solidFill>
                  <a:srgbClr val="0E141B"/>
                </a:solidFill>
                <a:latin typeface="Cambria" pitchFamily="34" charset="0"/>
                <a:ea typeface="Cambria" pitchFamily="34" charset="-122"/>
                <a:cs typeface="Cambria" pitchFamily="34" charset="-120"/>
              </a:rPr>
              <a:t>Eight corridors, one fleet, and no shared picture of its health</a:t>
            </a:r>
            <a:endParaRPr lang="en-US" sz="3000" dirty="0"/>
          </a:p>
        </p:txBody>
      </p:sp>
      <p:sp>
        <p:nvSpPr>
          <p:cNvPr id="4" name="mappanel"/>
          <p:cNvSpPr/>
          <p:nvPr/>
        </p:nvSpPr>
        <p:spPr>
          <a:xfrm>
            <a:off x="457200" y="1645920"/>
            <a:ext cx="6583680" cy="4572000"/>
          </a:xfrm>
          <a:prstGeom prst="roundRect">
            <a:avLst>
              <a:gd name="adj" fmla="val 2400"/>
            </a:avLst>
          </a:prstGeom>
          <a:solidFill>
            <a:srgbClr val="0E141B"/>
          </a:solidFill>
          <a:ln w="9525">
            <a:solidFill>
              <a:srgbClr val="33465A"/>
            </a:solidFill>
            <a:prstDash val="solid"/>
          </a:ln>
          <a:effectLst>
            <a:outerShdw sx="100000" sy="100000" kx="0" ky="0" algn="bl" rotWithShape="0" blurRad="101600" dist="25400" dir="5400000">
              <a:srgbClr val="000000">
                <a:alpha val="22000"/>
              </a:srgbClr>
            </a:outerShdw>
          </a:effectLst>
        </p:spPr>
      </p:sp>
      <p:sp>
        <p:nvSpPr>
          <p:cNvPr id="5" name="route0"/>
          <p:cNvSpPr/>
          <p:nvPr/>
        </p:nvSpPr>
        <p:spPr>
          <a:xfrm>
            <a:off x="3498860" y="3728192"/>
            <a:ext cx="2658161" cy="2212848"/>
          </a:xfrm>
          <a:prstGeom prst="line">
            <a:avLst/>
          </a:prstGeom>
          <a:noFill/>
          <a:ln w="28575">
            <a:solidFill>
              <a:srgbClr val="F2A900"/>
            </a:solidFill>
            <a:prstDash val="dash"/>
          </a:ln>
        </p:spPr>
      </p:sp>
      <p:sp>
        <p:nvSpPr>
          <p:cNvPr id="6" name="route1"/>
          <p:cNvSpPr/>
          <p:nvPr/>
        </p:nvSpPr>
        <p:spPr>
          <a:xfrm>
            <a:off x="1129833" y="2183221"/>
            <a:ext cx="2369028" cy="1544970"/>
          </a:xfrm>
          <a:prstGeom prst="line">
            <a:avLst/>
          </a:prstGeom>
          <a:noFill/>
          <a:ln w="28575">
            <a:solidFill>
              <a:srgbClr val="F2A900"/>
            </a:solidFill>
            <a:prstDash val="dash"/>
          </a:ln>
        </p:spPr>
      </p:sp>
      <p:sp>
        <p:nvSpPr>
          <p:cNvPr id="7" name="route2"/>
          <p:cNvSpPr/>
          <p:nvPr/>
        </p:nvSpPr>
        <p:spPr>
          <a:xfrm>
            <a:off x="1586850" y="2762585"/>
            <a:ext cx="1912010" cy="965606"/>
          </a:xfrm>
          <a:prstGeom prst="line">
            <a:avLst/>
          </a:prstGeom>
          <a:noFill/>
          <a:ln w="28575">
            <a:solidFill>
              <a:srgbClr val="F2A900"/>
            </a:solidFill>
            <a:prstDash val="dash"/>
          </a:ln>
        </p:spPr>
      </p:sp>
      <p:sp>
        <p:nvSpPr>
          <p:cNvPr id="8" name="route3"/>
          <p:cNvSpPr/>
          <p:nvPr/>
        </p:nvSpPr>
        <p:spPr>
          <a:xfrm>
            <a:off x="2053194" y="2279782"/>
            <a:ext cx="1445666" cy="1448410"/>
          </a:xfrm>
          <a:prstGeom prst="line">
            <a:avLst/>
          </a:prstGeom>
          <a:noFill/>
          <a:ln w="28575">
            <a:solidFill>
              <a:srgbClr val="F2A900"/>
            </a:solidFill>
            <a:prstDash val="dash"/>
          </a:ln>
        </p:spPr>
      </p:sp>
      <p:sp>
        <p:nvSpPr>
          <p:cNvPr id="9" name="route4"/>
          <p:cNvSpPr/>
          <p:nvPr/>
        </p:nvSpPr>
        <p:spPr>
          <a:xfrm>
            <a:off x="2808671" y="2931566"/>
            <a:ext cx="690189" cy="796625"/>
          </a:xfrm>
          <a:prstGeom prst="line">
            <a:avLst/>
          </a:prstGeom>
          <a:noFill/>
          <a:ln w="28575">
            <a:solidFill>
              <a:srgbClr val="F2A900"/>
            </a:solidFill>
            <a:prstDash val="dash"/>
          </a:ln>
        </p:spPr>
      </p:sp>
      <p:sp>
        <p:nvSpPr>
          <p:cNvPr id="10" name="route5"/>
          <p:cNvSpPr/>
          <p:nvPr/>
        </p:nvSpPr>
        <p:spPr>
          <a:xfrm flipV="1">
            <a:off x="3498860" y="3060314"/>
            <a:ext cx="2639507" cy="667878"/>
          </a:xfrm>
          <a:prstGeom prst="line">
            <a:avLst/>
          </a:prstGeom>
          <a:noFill/>
          <a:ln w="28575">
            <a:solidFill>
              <a:srgbClr val="F2A900"/>
            </a:solidFill>
            <a:prstDash val="dash"/>
          </a:ln>
        </p:spPr>
      </p:sp>
      <p:sp>
        <p:nvSpPr>
          <p:cNvPr id="11" name="route6"/>
          <p:cNvSpPr/>
          <p:nvPr/>
        </p:nvSpPr>
        <p:spPr>
          <a:xfrm>
            <a:off x="4300972" y="5426050"/>
            <a:ext cx="1856049" cy="514990"/>
          </a:xfrm>
          <a:prstGeom prst="line">
            <a:avLst/>
          </a:prstGeom>
          <a:noFill/>
          <a:ln w="28575">
            <a:solidFill>
              <a:srgbClr val="F2A900"/>
            </a:solidFill>
            <a:prstDash val="dash"/>
          </a:ln>
        </p:spPr>
      </p:sp>
      <p:sp>
        <p:nvSpPr>
          <p:cNvPr id="12" name="route7"/>
          <p:cNvSpPr/>
          <p:nvPr/>
        </p:nvSpPr>
        <p:spPr>
          <a:xfrm flipV="1">
            <a:off x="3470880" y="3728192"/>
            <a:ext cx="27981" cy="1005840"/>
          </a:xfrm>
          <a:prstGeom prst="line">
            <a:avLst/>
          </a:prstGeom>
          <a:noFill/>
          <a:ln w="28575">
            <a:solidFill>
              <a:srgbClr val="F2A900"/>
            </a:solidFill>
            <a:prstDash val="dash"/>
          </a:ln>
        </p:spPr>
      </p:sp>
      <p:sp>
        <p:nvSpPr>
          <p:cNvPr id="13" name="city"/>
          <p:cNvSpPr/>
          <p:nvPr/>
        </p:nvSpPr>
        <p:spPr>
          <a:xfrm>
            <a:off x="6056437" y="5840456"/>
            <a:ext cx="201168" cy="201168"/>
          </a:xfrm>
          <a:prstGeom prst="ellipse">
            <a:avLst/>
          </a:prstGeom>
          <a:solidFill>
            <a:srgbClr val="FFFFFF"/>
          </a:solidFill>
          <a:ln w="12700">
            <a:solidFill>
              <a:srgbClr val="FFFFFF"/>
            </a:solidFill>
            <a:prstDash val="solid"/>
          </a:ln>
        </p:spPr>
      </p:sp>
      <p:sp>
        <p:nvSpPr>
          <p:cNvPr id="14" name="Text 12"/>
          <p:cNvSpPr txBox="1"/>
          <p:nvPr/>
        </p:nvSpPr>
        <p:spPr>
          <a:xfrm>
            <a:off x="5105461" y="5831312"/>
            <a:ext cx="914400" cy="256032"/>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Mombasa</a:t>
            </a:r>
            <a:endParaRPr lang="en-US" sz="1400" dirty="0"/>
          </a:p>
        </p:txBody>
      </p:sp>
      <p:sp>
        <p:nvSpPr>
          <p:cNvPr id="15" name="city"/>
          <p:cNvSpPr/>
          <p:nvPr/>
        </p:nvSpPr>
        <p:spPr>
          <a:xfrm>
            <a:off x="3398276" y="3627608"/>
            <a:ext cx="201168" cy="201168"/>
          </a:xfrm>
          <a:prstGeom prst="ellipse">
            <a:avLst/>
          </a:prstGeom>
          <a:solidFill>
            <a:srgbClr val="FFFFFF"/>
          </a:solidFill>
          <a:ln w="12700">
            <a:solidFill>
              <a:srgbClr val="FFFFFF"/>
            </a:solidFill>
            <a:prstDash val="solid"/>
          </a:ln>
        </p:spPr>
      </p:sp>
      <p:sp>
        <p:nvSpPr>
          <p:cNvPr id="16" name="Text 14"/>
          <p:cNvSpPr txBox="1"/>
          <p:nvPr/>
        </p:nvSpPr>
        <p:spPr>
          <a:xfrm>
            <a:off x="3663452" y="3600176"/>
            <a:ext cx="914400" cy="256032"/>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Nairobi</a:t>
            </a:r>
            <a:endParaRPr lang="en-US" sz="1400" dirty="0"/>
          </a:p>
        </p:txBody>
      </p:sp>
      <p:sp>
        <p:nvSpPr>
          <p:cNvPr id="17" name="city"/>
          <p:cNvSpPr/>
          <p:nvPr/>
        </p:nvSpPr>
        <p:spPr>
          <a:xfrm>
            <a:off x="1061253" y="2114641"/>
            <a:ext cx="137160" cy="137160"/>
          </a:xfrm>
          <a:prstGeom prst="ellipse">
            <a:avLst/>
          </a:prstGeom>
          <a:solidFill>
            <a:srgbClr val="E4572E"/>
          </a:solidFill>
          <a:ln w="12700">
            <a:solidFill>
              <a:srgbClr val="FFFFFF"/>
            </a:solidFill>
            <a:prstDash val="solid"/>
          </a:ln>
        </p:spPr>
      </p:sp>
      <p:sp>
        <p:nvSpPr>
          <p:cNvPr id="18" name="Text 16"/>
          <p:cNvSpPr txBox="1"/>
          <p:nvPr/>
        </p:nvSpPr>
        <p:spPr>
          <a:xfrm>
            <a:off x="1266993" y="1927189"/>
            <a:ext cx="914400" cy="25603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Malaba</a:t>
            </a:r>
            <a:endParaRPr lang="en-US" sz="1200" dirty="0"/>
          </a:p>
        </p:txBody>
      </p:sp>
      <p:sp>
        <p:nvSpPr>
          <p:cNvPr id="19" name="city"/>
          <p:cNvSpPr/>
          <p:nvPr/>
        </p:nvSpPr>
        <p:spPr>
          <a:xfrm>
            <a:off x="1518270" y="2694005"/>
            <a:ext cx="137160" cy="137160"/>
          </a:xfrm>
          <a:prstGeom prst="ellipse">
            <a:avLst/>
          </a:prstGeom>
          <a:solidFill>
            <a:srgbClr val="E4572E"/>
          </a:solidFill>
          <a:ln w="12700">
            <a:solidFill>
              <a:srgbClr val="FFFFFF"/>
            </a:solidFill>
            <a:prstDash val="solid"/>
          </a:ln>
        </p:spPr>
      </p:sp>
      <p:sp>
        <p:nvSpPr>
          <p:cNvPr id="20" name="Text 18"/>
          <p:cNvSpPr txBox="1"/>
          <p:nvPr/>
        </p:nvSpPr>
        <p:spPr>
          <a:xfrm>
            <a:off x="626730" y="2716865"/>
            <a:ext cx="914400" cy="256032"/>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Kisumu</a:t>
            </a:r>
            <a:endParaRPr lang="en-US" sz="1200" dirty="0"/>
          </a:p>
        </p:txBody>
      </p:sp>
      <p:sp>
        <p:nvSpPr>
          <p:cNvPr id="21" name="city"/>
          <p:cNvSpPr/>
          <p:nvPr/>
        </p:nvSpPr>
        <p:spPr>
          <a:xfrm>
            <a:off x="1984614" y="2211202"/>
            <a:ext cx="137160" cy="137160"/>
          </a:xfrm>
          <a:prstGeom prst="ellipse">
            <a:avLst/>
          </a:prstGeom>
          <a:solidFill>
            <a:srgbClr val="E4572E"/>
          </a:solidFill>
          <a:ln w="12700">
            <a:solidFill>
              <a:srgbClr val="FFFFFF"/>
            </a:solidFill>
            <a:prstDash val="solid"/>
          </a:ln>
        </p:spPr>
      </p:sp>
      <p:sp>
        <p:nvSpPr>
          <p:cNvPr id="22" name="Text 20"/>
          <p:cNvSpPr txBox="1"/>
          <p:nvPr/>
        </p:nvSpPr>
        <p:spPr>
          <a:xfrm>
            <a:off x="2190354" y="2023750"/>
            <a:ext cx="914400" cy="25603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Eldoret</a:t>
            </a:r>
            <a:endParaRPr lang="en-US" sz="1200" dirty="0"/>
          </a:p>
        </p:txBody>
      </p:sp>
      <p:sp>
        <p:nvSpPr>
          <p:cNvPr id="23" name="city"/>
          <p:cNvSpPr/>
          <p:nvPr/>
        </p:nvSpPr>
        <p:spPr>
          <a:xfrm>
            <a:off x="2740091" y="2862986"/>
            <a:ext cx="137160" cy="137160"/>
          </a:xfrm>
          <a:prstGeom prst="ellipse">
            <a:avLst/>
          </a:prstGeom>
          <a:solidFill>
            <a:srgbClr val="E4572E"/>
          </a:solidFill>
          <a:ln w="12700">
            <a:solidFill>
              <a:srgbClr val="FFFFFF"/>
            </a:solidFill>
            <a:prstDash val="solid"/>
          </a:ln>
        </p:spPr>
      </p:sp>
      <p:sp>
        <p:nvSpPr>
          <p:cNvPr id="24" name="Text 22"/>
          <p:cNvSpPr txBox="1"/>
          <p:nvPr/>
        </p:nvSpPr>
        <p:spPr>
          <a:xfrm>
            <a:off x="2580071" y="2547518"/>
            <a:ext cx="914400" cy="25603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Nakuru</a:t>
            </a:r>
            <a:endParaRPr lang="en-US" sz="1200" dirty="0"/>
          </a:p>
        </p:txBody>
      </p:sp>
      <p:sp>
        <p:nvSpPr>
          <p:cNvPr id="25" name="city"/>
          <p:cNvSpPr/>
          <p:nvPr/>
        </p:nvSpPr>
        <p:spPr>
          <a:xfrm>
            <a:off x="6069787" y="2991734"/>
            <a:ext cx="137160" cy="137160"/>
          </a:xfrm>
          <a:prstGeom prst="ellipse">
            <a:avLst/>
          </a:prstGeom>
          <a:solidFill>
            <a:srgbClr val="E4572E"/>
          </a:solidFill>
          <a:ln w="12700">
            <a:solidFill>
              <a:srgbClr val="FFFFFF"/>
            </a:solidFill>
            <a:prstDash val="solid"/>
          </a:ln>
        </p:spPr>
      </p:sp>
      <p:sp>
        <p:nvSpPr>
          <p:cNvPr id="26" name="Text 24"/>
          <p:cNvSpPr txBox="1"/>
          <p:nvPr/>
        </p:nvSpPr>
        <p:spPr>
          <a:xfrm>
            <a:off x="5041087" y="2932298"/>
            <a:ext cx="914400" cy="256032"/>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Garissa</a:t>
            </a:r>
            <a:endParaRPr lang="en-US" sz="1200" dirty="0"/>
          </a:p>
        </p:txBody>
      </p:sp>
      <p:sp>
        <p:nvSpPr>
          <p:cNvPr id="27" name="city"/>
          <p:cNvSpPr/>
          <p:nvPr/>
        </p:nvSpPr>
        <p:spPr>
          <a:xfrm>
            <a:off x="4232392" y="5357470"/>
            <a:ext cx="137160" cy="137160"/>
          </a:xfrm>
          <a:prstGeom prst="ellipse">
            <a:avLst/>
          </a:prstGeom>
          <a:solidFill>
            <a:srgbClr val="E4572E"/>
          </a:solidFill>
          <a:ln w="12700">
            <a:solidFill>
              <a:srgbClr val="FFFFFF"/>
            </a:solidFill>
            <a:prstDash val="solid"/>
          </a:ln>
        </p:spPr>
      </p:sp>
      <p:sp>
        <p:nvSpPr>
          <p:cNvPr id="28" name="Text 26"/>
          <p:cNvSpPr txBox="1"/>
          <p:nvPr/>
        </p:nvSpPr>
        <p:spPr>
          <a:xfrm>
            <a:off x="3249412" y="5380330"/>
            <a:ext cx="914400" cy="256032"/>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Taveta</a:t>
            </a:r>
            <a:endParaRPr lang="en-US" sz="1200" dirty="0"/>
          </a:p>
        </p:txBody>
      </p:sp>
      <p:sp>
        <p:nvSpPr>
          <p:cNvPr id="29" name="city"/>
          <p:cNvSpPr/>
          <p:nvPr/>
        </p:nvSpPr>
        <p:spPr>
          <a:xfrm>
            <a:off x="3402300" y="4665452"/>
            <a:ext cx="137160" cy="137160"/>
          </a:xfrm>
          <a:prstGeom prst="ellipse">
            <a:avLst/>
          </a:prstGeom>
          <a:solidFill>
            <a:srgbClr val="E4572E"/>
          </a:solidFill>
          <a:ln w="12700">
            <a:solidFill>
              <a:srgbClr val="FFFFFF"/>
            </a:solidFill>
            <a:prstDash val="solid"/>
          </a:ln>
        </p:spPr>
      </p:sp>
      <p:sp>
        <p:nvSpPr>
          <p:cNvPr id="30" name="Text 28"/>
          <p:cNvSpPr txBox="1"/>
          <p:nvPr/>
        </p:nvSpPr>
        <p:spPr>
          <a:xfrm>
            <a:off x="3608040" y="4688312"/>
            <a:ext cx="914400" cy="25603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Namanga</a:t>
            </a:r>
            <a:endParaRPr lang="en-US" sz="1200" dirty="0"/>
          </a:p>
        </p:txBody>
      </p:sp>
      <p:sp>
        <p:nvSpPr>
          <p:cNvPr id="31" name="Text 29"/>
          <p:cNvSpPr txBox="1"/>
          <p:nvPr/>
        </p:nvSpPr>
        <p:spPr>
          <a:xfrm>
            <a:off x="640080" y="5897880"/>
            <a:ext cx="2743200" cy="228600"/>
          </a:xfrm>
          <a:prstGeom prst="rect">
            <a:avLst/>
          </a:prstGeom>
          <a:noFill/>
          <a:ln/>
        </p:spPr>
        <p:txBody>
          <a:bodyPr wrap="square" lIns="0" tIns="0" rIns="0" bIns="0" rtlCol="0" anchor="ctr"/>
          <a:lstStyle/>
          <a:p>
            <a:pPr indent="0" marL="0">
              <a:buNone/>
            </a:pPr>
            <a:r>
              <a:rPr lang="en-US" sz="1000" i="1" dirty="0">
                <a:solidFill>
                  <a:srgbClr val="8FA3B8"/>
                </a:solidFill>
                <a:latin typeface="Calibri" pitchFamily="34" charset="0"/>
                <a:ea typeface="Calibri" pitchFamily="34" charset="-122"/>
                <a:cs typeface="Calibri" pitchFamily="34" charset="-120"/>
              </a:rPr>
              <a:t>Schematic, not to scale</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406640" y="1645920"/>
          <a:ext cx="4325112" cy="914400"/>
        </p:xfrm>
        <a:graphic>
          <a:graphicData uri="http://schemas.openxmlformats.org/drawingml/2006/table">
            <a:tbl>
              <a:tblPr/>
              <a:tblGrid>
                <a:gridCol w="2926080"/>
                <a:gridCol w="1399032"/>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Route</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E14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Distance</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E141B"/>
                    </a:solidFill>
                  </a:tcPr>
                </a:tc>
              </a:tr>
              <a:tr h="365760">
                <a:tc>
                  <a:txBody>
                    <a:bodyPr/>
                    <a:lstStyle/>
                    <a:p>
                      <a:pPr indent="0" marL="0">
                        <a:buNone/>
                      </a:pPr>
                      <a:r>
                        <a:rPr lang="en-US" sz="1300" dirty="0">
                          <a:solidFill>
                            <a:srgbClr val="0E141B"/>
                          </a:solidFill>
                          <a:latin typeface="Calibri" pitchFamily="34" charset="0"/>
                          <a:ea typeface="Calibri" pitchFamily="34" charset="-122"/>
                          <a:cs typeface="Calibri" pitchFamily="34" charset="-120"/>
                        </a:rPr>
                        <a:t>Mombasa - Nairobi</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r" indent="0" marL="0">
                        <a:buNone/>
                      </a:pPr>
                      <a:r>
                        <a:rPr lang="en-US" sz="1300" dirty="0">
                          <a:solidFill>
                            <a:srgbClr val="0E141B"/>
                          </a:solidFill>
                          <a:latin typeface="Calibri" pitchFamily="34" charset="0"/>
                          <a:ea typeface="Calibri" pitchFamily="34" charset="-122"/>
                          <a:cs typeface="Calibri" pitchFamily="34" charset="-120"/>
                        </a:rPr>
                        <a:t>485 km</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365760">
                <a:tc>
                  <a:txBody>
                    <a:bodyPr/>
                    <a:lstStyle/>
                    <a:p>
                      <a:pPr indent="0" marL="0">
                        <a:buNone/>
                      </a:pPr>
                      <a:r>
                        <a:rPr lang="en-US" sz="1300" dirty="0">
                          <a:solidFill>
                            <a:srgbClr val="0E141B"/>
                          </a:solidFill>
                          <a:latin typeface="Calibri" pitchFamily="34" charset="0"/>
                          <a:ea typeface="Calibri" pitchFamily="34" charset="-122"/>
                          <a:cs typeface="Calibri" pitchFamily="34" charset="-120"/>
                        </a:rPr>
                        <a:t>Nairobi - Malaba</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r" indent="0" marL="0">
                        <a:buNone/>
                      </a:pPr>
                      <a:r>
                        <a:rPr lang="en-US" sz="1300" dirty="0">
                          <a:solidFill>
                            <a:srgbClr val="0E141B"/>
                          </a:solidFill>
                          <a:latin typeface="Calibri" pitchFamily="34" charset="0"/>
                          <a:ea typeface="Calibri" pitchFamily="34" charset="-122"/>
                          <a:cs typeface="Calibri" pitchFamily="34" charset="-120"/>
                        </a:rPr>
                        <a:t>500 km</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365760">
                <a:tc>
                  <a:txBody>
                    <a:bodyPr/>
                    <a:lstStyle/>
                    <a:p>
                      <a:pPr indent="0" marL="0">
                        <a:buNone/>
                      </a:pPr>
                      <a:r>
                        <a:rPr lang="en-US" sz="1300" dirty="0">
                          <a:solidFill>
                            <a:srgbClr val="0E141B"/>
                          </a:solidFill>
                          <a:latin typeface="Calibri" pitchFamily="34" charset="0"/>
                          <a:ea typeface="Calibri" pitchFamily="34" charset="-122"/>
                          <a:cs typeface="Calibri" pitchFamily="34" charset="-120"/>
                        </a:rPr>
                        <a:t>Nairobi - Garissa</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r" indent="0" marL="0">
                        <a:buNone/>
                      </a:pPr>
                      <a:r>
                        <a:rPr lang="en-US" sz="1300" dirty="0">
                          <a:solidFill>
                            <a:srgbClr val="0E141B"/>
                          </a:solidFill>
                          <a:latin typeface="Calibri" pitchFamily="34" charset="0"/>
                          <a:ea typeface="Calibri" pitchFamily="34" charset="-122"/>
                          <a:cs typeface="Calibri" pitchFamily="34" charset="-120"/>
                        </a:rPr>
                        <a:t>370 km</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365760">
                <a:tc>
                  <a:txBody>
                    <a:bodyPr/>
                    <a:lstStyle/>
                    <a:p>
                      <a:pPr indent="0" marL="0">
                        <a:buNone/>
                      </a:pPr>
                      <a:r>
                        <a:rPr lang="en-US" sz="1300" dirty="0">
                          <a:solidFill>
                            <a:srgbClr val="0E141B"/>
                          </a:solidFill>
                          <a:latin typeface="Calibri" pitchFamily="34" charset="0"/>
                          <a:ea typeface="Calibri" pitchFamily="34" charset="-122"/>
                          <a:cs typeface="Calibri" pitchFamily="34" charset="-120"/>
                        </a:rPr>
                        <a:t>Nairobi - Kisumu</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r" indent="0" marL="0">
                        <a:buNone/>
                      </a:pPr>
                      <a:r>
                        <a:rPr lang="en-US" sz="1300" dirty="0">
                          <a:solidFill>
                            <a:srgbClr val="0E141B"/>
                          </a:solidFill>
                          <a:latin typeface="Calibri" pitchFamily="34" charset="0"/>
                          <a:ea typeface="Calibri" pitchFamily="34" charset="-122"/>
                          <a:cs typeface="Calibri" pitchFamily="34" charset="-120"/>
                        </a:rPr>
                        <a:t>345 km</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365760">
                <a:tc>
                  <a:txBody>
                    <a:bodyPr/>
                    <a:lstStyle/>
                    <a:p>
                      <a:pPr indent="0" marL="0">
                        <a:buNone/>
                      </a:pPr>
                      <a:r>
                        <a:rPr lang="en-US" sz="1300" dirty="0">
                          <a:solidFill>
                            <a:srgbClr val="0E141B"/>
                          </a:solidFill>
                          <a:latin typeface="Calibri" pitchFamily="34" charset="0"/>
                          <a:ea typeface="Calibri" pitchFamily="34" charset="-122"/>
                          <a:cs typeface="Calibri" pitchFamily="34" charset="-120"/>
                        </a:rPr>
                        <a:t>Mombasa - Taveta</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r" indent="0" marL="0">
                        <a:buNone/>
                      </a:pPr>
                      <a:r>
                        <a:rPr lang="en-US" sz="1300" dirty="0">
                          <a:solidFill>
                            <a:srgbClr val="0E141B"/>
                          </a:solidFill>
                          <a:latin typeface="Calibri" pitchFamily="34" charset="0"/>
                          <a:ea typeface="Calibri" pitchFamily="34" charset="-122"/>
                          <a:cs typeface="Calibri" pitchFamily="34" charset="-120"/>
                        </a:rPr>
                        <a:t>330 km</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365760">
                <a:tc>
                  <a:txBody>
                    <a:bodyPr/>
                    <a:lstStyle/>
                    <a:p>
                      <a:pPr indent="0" marL="0">
                        <a:buNone/>
                      </a:pPr>
                      <a:r>
                        <a:rPr lang="en-US" sz="1300" dirty="0">
                          <a:solidFill>
                            <a:srgbClr val="0E141B"/>
                          </a:solidFill>
                          <a:latin typeface="Calibri" pitchFamily="34" charset="0"/>
                          <a:ea typeface="Calibri" pitchFamily="34" charset="-122"/>
                          <a:cs typeface="Calibri" pitchFamily="34" charset="-120"/>
                        </a:rPr>
                        <a:t>Nairobi - Eldoret</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r" indent="0" marL="0">
                        <a:buNone/>
                      </a:pPr>
                      <a:r>
                        <a:rPr lang="en-US" sz="1300" dirty="0">
                          <a:solidFill>
                            <a:srgbClr val="0E141B"/>
                          </a:solidFill>
                          <a:latin typeface="Calibri" pitchFamily="34" charset="0"/>
                          <a:ea typeface="Calibri" pitchFamily="34" charset="-122"/>
                          <a:cs typeface="Calibri" pitchFamily="34" charset="-120"/>
                        </a:rPr>
                        <a:t>310 km</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365760">
                <a:tc>
                  <a:txBody>
                    <a:bodyPr/>
                    <a:lstStyle/>
                    <a:p>
                      <a:pPr indent="0" marL="0">
                        <a:buNone/>
                      </a:pPr>
                      <a:r>
                        <a:rPr lang="en-US" sz="1300" dirty="0">
                          <a:solidFill>
                            <a:srgbClr val="0E141B"/>
                          </a:solidFill>
                          <a:latin typeface="Calibri" pitchFamily="34" charset="0"/>
                          <a:ea typeface="Calibri" pitchFamily="34" charset="-122"/>
                          <a:cs typeface="Calibri" pitchFamily="34" charset="-120"/>
                        </a:rPr>
                        <a:t>Nairobi - Namanga</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r" indent="0" marL="0">
                        <a:buNone/>
                      </a:pPr>
                      <a:r>
                        <a:rPr lang="en-US" sz="1300" dirty="0">
                          <a:solidFill>
                            <a:srgbClr val="0E141B"/>
                          </a:solidFill>
                          <a:latin typeface="Calibri" pitchFamily="34" charset="0"/>
                          <a:ea typeface="Calibri" pitchFamily="34" charset="-122"/>
                          <a:cs typeface="Calibri" pitchFamily="34" charset="-120"/>
                        </a:rPr>
                        <a:t>165 km</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r h="365760">
                <a:tc>
                  <a:txBody>
                    <a:bodyPr/>
                    <a:lstStyle/>
                    <a:p>
                      <a:pPr indent="0" marL="0">
                        <a:buNone/>
                      </a:pPr>
                      <a:r>
                        <a:rPr lang="en-US" sz="1300" dirty="0">
                          <a:solidFill>
                            <a:srgbClr val="0E141B"/>
                          </a:solidFill>
                          <a:latin typeface="Calibri" pitchFamily="34" charset="0"/>
                          <a:ea typeface="Calibri" pitchFamily="34" charset="-122"/>
                          <a:cs typeface="Calibri" pitchFamily="34" charset="-120"/>
                        </a:rPr>
                        <a:t>Nairobi - Nakuru</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c>
                  <a:txBody>
                    <a:bodyPr/>
                    <a:lstStyle/>
                    <a:p>
                      <a:pPr algn="r" indent="0" marL="0">
                        <a:buNone/>
                      </a:pPr>
                      <a:r>
                        <a:rPr lang="en-US" sz="1300" dirty="0">
                          <a:solidFill>
                            <a:srgbClr val="0E141B"/>
                          </a:solidFill>
                          <a:latin typeface="Calibri" pitchFamily="34" charset="0"/>
                          <a:ea typeface="Calibri" pitchFamily="34" charset="-122"/>
                          <a:cs typeface="Calibri" pitchFamily="34" charset="-120"/>
                        </a:rPr>
                        <a:t>160 km</a:t>
                      </a:r>
                      <a:endParaRPr lang="en-US" sz="13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tcPr>
                </a:tc>
              </a:tr>
            </a:tbl>
          </a:graphicData>
        </a:graphic>
      </p:graphicFrame>
      <p:sp>
        <p:nvSpPr>
          <p:cNvPr id="33" name="Text 30"/>
          <p:cNvSpPr txBox="1"/>
          <p:nvPr/>
        </p:nvSpPr>
        <p:spPr>
          <a:xfrm>
            <a:off x="7406640" y="5486400"/>
            <a:ext cx="4325112" cy="822960"/>
          </a:xfrm>
          <a:prstGeom prst="rect">
            <a:avLst/>
          </a:prstGeom>
          <a:noFill/>
          <a:ln/>
        </p:spPr>
        <p:txBody>
          <a:bodyPr wrap="square" lIns="0" tIns="0" rIns="0" bIns="0" rtlCol="0" anchor="t"/>
          <a:lstStyle/>
          <a:p>
            <a:pPr indent="0" marL="0">
              <a:buNone/>
            </a:pPr>
            <a:r>
              <a:rPr lang="en-US" sz="1500" b="1" dirty="0">
                <a:solidFill>
                  <a:srgbClr val="0E141B"/>
                </a:solidFill>
                <a:latin typeface="Calibri" pitchFamily="34" charset="0"/>
                <a:ea typeface="Calibri" pitchFamily="34" charset="-122"/>
                <a:cs typeface="Calibri" pitchFamily="34" charset="-120"/>
              </a:rPr>
              <a:t>Cargo: </a:t>
            </a:r>
            <a:pPr indent="0" marL="0">
              <a:buNone/>
            </a:pPr>
            <a:r>
              <a:rPr lang="en-US" sz="1500" dirty="0">
                <a:solidFill>
                  <a:srgbClr val="5B6775"/>
                </a:solidFill>
                <a:latin typeface="Calibri" pitchFamily="34" charset="0"/>
                <a:ea typeface="Calibri" pitchFamily="34" charset="-122"/>
                <a:cs typeface="Calibri" pitchFamily="34" charset="-120"/>
              </a:rPr>
              <a:t>containers, perishables, general freight, fuel and chemicals, construction. Late delivery is penalised by the hour.</a:t>
            </a:r>
            <a:endParaRPr lang="en-US" sz="15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300" kern="0" dirty="0">
                <a:solidFill>
                  <a:srgbClr val="E4572E"/>
                </a:solidFill>
                <a:latin typeface="Calibri" pitchFamily="34" charset="0"/>
                <a:ea typeface="Calibri" pitchFamily="34" charset="-122"/>
                <a:cs typeface="Calibri" pitchFamily="34" charset="-120"/>
              </a:rPr>
              <a:t>CRISIS 1  |  UNPLANNED HIGHWAY BREAKDOWNS</a:t>
            </a:r>
            <a:endParaRPr lang="en-US" sz="1200" dirty="0"/>
          </a:p>
        </p:txBody>
      </p:sp>
      <p:sp>
        <p:nvSpPr>
          <p:cNvPr id="3" name="Text 0"/>
          <p:cNvSpPr/>
          <p:nvPr>
            <p:ph idx="100" type="title" hasCustomPrompt="1"/>
          </p:nvPr>
        </p:nvSpPr>
        <p:spPr>
          <a:xfrm>
            <a:off x="457200" y="566928"/>
            <a:ext cx="11247120" cy="914400"/>
          </a:xfrm>
          <a:prstGeom prst="rect">
            <a:avLst/>
          </a:prstGeom>
          <a:noFill/>
          <a:ln/>
        </p:spPr>
        <p:txBody>
          <a:bodyPr wrap="square" lIns="0" tIns="0" rIns="0" bIns="0" rtlCol="0" anchor="t"/>
          <a:lstStyle/>
          <a:p>
            <a:pPr algn="l" indent="0" marL="0">
              <a:buNone/>
            </a:pPr>
            <a:r>
              <a:rPr lang="en-US" sz="3000" b="1" dirty="0">
                <a:solidFill>
                  <a:srgbClr val="0E141B"/>
                </a:solidFill>
                <a:latin typeface="Cambria" pitchFamily="34" charset="0"/>
                <a:ea typeface="Cambria" pitchFamily="34" charset="-122"/>
                <a:cs typeface="Cambria" pitchFamily="34" charset="-120"/>
              </a:rPr>
              <a:t>An emergency breakdown costs about five times a planned service, before penalties</a:t>
            </a:r>
            <a:endParaRPr lang="en-US" sz="3000" dirty="0"/>
          </a:p>
        </p:txBody>
      </p:sp>
      <p:sp>
        <p:nvSpPr>
          <p:cNvPr id="4" name="chartcard"/>
          <p:cNvSpPr/>
          <p:nvPr/>
        </p:nvSpPr>
        <p:spPr>
          <a:xfrm>
            <a:off x="457200" y="1691640"/>
            <a:ext cx="5669280" cy="4526280"/>
          </a:xfrm>
          <a:prstGeom prst="roundRect">
            <a:avLst>
              <a:gd name="adj" fmla="val 2424"/>
            </a:avLst>
          </a:prstGeom>
          <a:solidFill>
            <a:srgbClr val="F1F4F7"/>
          </a:solidFill>
          <a:ln w="9525">
            <a:solidFill>
              <a:srgbClr val="DDE3EA"/>
            </a:solidFill>
            <a:prstDash val="solid"/>
          </a:ln>
          <a:effectLst>
            <a:outerShdw sx="100000" sy="100000" kx="0" ky="0" algn="bl" rotWithShape="0" blurRad="101600" dist="25400" dir="5400000">
              <a:srgbClr val="000000">
                <a:alpha val="22000"/>
              </a:srgbClr>
            </a:outerShdw>
          </a:effectLst>
        </p:spPr>
      </p:sp>
      <p:sp>
        <p:nvSpPr>
          <p:cNvPr id="5" name="Text 3"/>
          <p:cNvSpPr txBox="1"/>
          <p:nvPr/>
        </p:nvSpPr>
        <p:spPr>
          <a:xfrm>
            <a:off x="731520" y="1828800"/>
            <a:ext cx="5120640" cy="320040"/>
          </a:xfrm>
          <a:prstGeom prst="rect">
            <a:avLst/>
          </a:prstGeom>
          <a:noFill/>
          <a:ln/>
        </p:spPr>
        <p:txBody>
          <a:bodyPr wrap="square" lIns="0" tIns="0" rIns="0" bIns="0" rtlCol="0" anchor="ctr"/>
          <a:lstStyle/>
          <a:p>
            <a:pPr indent="0" marL="0">
              <a:buNone/>
            </a:pPr>
            <a:r>
              <a:rPr lang="en-US" sz="1400" b="1" dirty="0">
                <a:solidFill>
                  <a:srgbClr val="0E141B"/>
                </a:solidFill>
                <a:latin typeface="Calibri" pitchFamily="34" charset="0"/>
                <a:ea typeface="Calibri" pitchFamily="34" charset="-122"/>
                <a:cs typeface="Calibri" pitchFamily="34" charset="-120"/>
              </a:rPr>
              <a:t>Average cost per work order (USD)</a:t>
            </a:r>
            <a:endParaRPr lang="en-US" sz="1400" dirty="0"/>
          </a:p>
        </p:txBody>
      </p:sp>
      <p:graphicFrame>
        <p:nvGraphicFramePr>
          <p:cNvPr id="6" name="Chart 0" descr=""/>
          <p:cNvGraphicFramePr/>
          <p:nvPr/>
        </p:nvGraphicFramePr>
        <p:xfrm>
          <a:off x="640080" y="2194560"/>
          <a:ext cx="5303520" cy="38404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6492240" y="1691640"/>
            <a:ext cx="2011680" cy="822960"/>
          </a:xfrm>
          <a:prstGeom prst="rect">
            <a:avLst/>
          </a:prstGeom>
          <a:noFill/>
          <a:ln/>
        </p:spPr>
        <p:txBody>
          <a:bodyPr wrap="square" lIns="0" tIns="0" rIns="0" bIns="0" rtlCol="0" anchor="ctr"/>
          <a:lstStyle/>
          <a:p>
            <a:pPr indent="0" marL="0">
              <a:buNone/>
            </a:pPr>
            <a:r>
              <a:rPr lang="en-US" sz="3000" b="1" dirty="0">
                <a:solidFill>
                  <a:srgbClr val="E4572E"/>
                </a:solidFill>
                <a:latin typeface="Cambria" pitchFamily="34" charset="0"/>
                <a:ea typeface="Cambria" pitchFamily="34" charset="-122"/>
                <a:cs typeface="Cambria" pitchFamily="34" charset="-120"/>
              </a:rPr>
              <a:t>16</a:t>
            </a:r>
            <a:endParaRPr lang="en-US" sz="3000" dirty="0"/>
          </a:p>
        </p:txBody>
      </p:sp>
      <p:sp>
        <p:nvSpPr>
          <p:cNvPr id="8" name="Text 5"/>
          <p:cNvSpPr txBox="1"/>
          <p:nvPr/>
        </p:nvSpPr>
        <p:spPr>
          <a:xfrm>
            <a:off x="8549640" y="1691640"/>
            <a:ext cx="3182112" cy="822960"/>
          </a:xfrm>
          <a:prstGeom prst="rect">
            <a:avLst/>
          </a:prstGeom>
          <a:noFill/>
          <a:ln/>
        </p:spPr>
        <p:txBody>
          <a:bodyPr wrap="square" lIns="0" tIns="0" rIns="0" bIns="0" rtlCol="0" anchor="ctr"/>
          <a:lstStyle/>
          <a:p>
            <a:pPr indent="0" marL="0">
              <a:buNone/>
            </a:pPr>
            <a:r>
              <a:rPr lang="en-US" sz="1400" dirty="0">
                <a:solidFill>
                  <a:srgbClr val="0E141B"/>
                </a:solidFill>
                <a:latin typeface="Calibri" pitchFamily="34" charset="0"/>
                <a:ea typeface="Calibri" pitchFamily="34" charset="-122"/>
                <a:cs typeface="Calibri" pitchFamily="34" charset="-120"/>
              </a:rPr>
              <a:t>breakdowns in a quarter, each stranding a load for 19 hours on average</a:t>
            </a:r>
            <a:endParaRPr lang="en-US" sz="1400" dirty="0"/>
          </a:p>
        </p:txBody>
      </p:sp>
      <p:sp>
        <p:nvSpPr>
          <p:cNvPr id="9" name="Text 6"/>
          <p:cNvSpPr txBox="1"/>
          <p:nvPr/>
        </p:nvSpPr>
        <p:spPr>
          <a:xfrm>
            <a:off x="6492240" y="2715768"/>
            <a:ext cx="2011680" cy="822960"/>
          </a:xfrm>
          <a:prstGeom prst="rect">
            <a:avLst/>
          </a:prstGeom>
          <a:noFill/>
          <a:ln/>
        </p:spPr>
        <p:txBody>
          <a:bodyPr wrap="square" lIns="0" tIns="0" rIns="0" bIns="0" rtlCol="0" anchor="ctr"/>
          <a:lstStyle/>
          <a:p>
            <a:pPr indent="0" marL="0">
              <a:buNone/>
            </a:pPr>
            <a:r>
              <a:rPr lang="en-US" sz="3000" b="1" dirty="0">
                <a:solidFill>
                  <a:srgbClr val="E4572E"/>
                </a:solidFill>
                <a:latin typeface="Cambria" pitchFamily="34" charset="0"/>
                <a:ea typeface="Cambria" pitchFamily="34" charset="-122"/>
                <a:cs typeface="Cambria" pitchFamily="34" charset="-120"/>
              </a:rPr>
              <a:t>$217,833</a:t>
            </a:r>
            <a:endParaRPr lang="en-US" sz="3000" dirty="0"/>
          </a:p>
        </p:txBody>
      </p:sp>
      <p:sp>
        <p:nvSpPr>
          <p:cNvPr id="10" name="Text 7"/>
          <p:cNvSpPr txBox="1"/>
          <p:nvPr/>
        </p:nvSpPr>
        <p:spPr>
          <a:xfrm>
            <a:off x="8549640" y="2715768"/>
            <a:ext cx="3182112" cy="822960"/>
          </a:xfrm>
          <a:prstGeom prst="rect">
            <a:avLst/>
          </a:prstGeom>
          <a:noFill/>
          <a:ln/>
        </p:spPr>
        <p:txBody>
          <a:bodyPr wrap="square" lIns="0" tIns="0" rIns="0" bIns="0" rtlCol="0" anchor="ctr"/>
          <a:lstStyle/>
          <a:p>
            <a:pPr indent="0" marL="0">
              <a:buNone/>
            </a:pPr>
            <a:r>
              <a:rPr lang="en-US" sz="1400" dirty="0">
                <a:solidFill>
                  <a:srgbClr val="0E141B"/>
                </a:solidFill>
                <a:latin typeface="Calibri" pitchFamily="34" charset="0"/>
                <a:ea typeface="Calibri" pitchFamily="34" charset="-122"/>
                <a:cs typeface="Calibri" pitchFamily="34" charset="-120"/>
              </a:rPr>
              <a:t>SLA penalties paid in the quarter</a:t>
            </a:r>
            <a:endParaRPr lang="en-US" sz="1400" dirty="0"/>
          </a:p>
        </p:txBody>
      </p:sp>
      <p:sp>
        <p:nvSpPr>
          <p:cNvPr id="11" name="Text 8"/>
          <p:cNvSpPr txBox="1"/>
          <p:nvPr/>
        </p:nvSpPr>
        <p:spPr>
          <a:xfrm>
            <a:off x="6492240" y="3739896"/>
            <a:ext cx="2011680" cy="822960"/>
          </a:xfrm>
          <a:prstGeom prst="rect">
            <a:avLst/>
          </a:prstGeom>
          <a:noFill/>
          <a:ln/>
        </p:spPr>
        <p:txBody>
          <a:bodyPr wrap="square" lIns="0" tIns="0" rIns="0" bIns="0" rtlCol="0" anchor="ctr"/>
          <a:lstStyle/>
          <a:p>
            <a:pPr indent="0" marL="0">
              <a:buNone/>
            </a:pPr>
            <a:r>
              <a:rPr lang="en-US" sz="3000" b="1" dirty="0">
                <a:solidFill>
                  <a:srgbClr val="E4572E"/>
                </a:solidFill>
                <a:latin typeface="Cambria" pitchFamily="34" charset="0"/>
                <a:ea typeface="Cambria" pitchFamily="34" charset="-122"/>
                <a:cs typeface="Cambria" pitchFamily="34" charset="-120"/>
              </a:rPr>
              <a:t>3 to 5x</a:t>
            </a:r>
            <a:endParaRPr lang="en-US" sz="3000" dirty="0"/>
          </a:p>
        </p:txBody>
      </p:sp>
      <p:sp>
        <p:nvSpPr>
          <p:cNvPr id="12" name="Text 9"/>
          <p:cNvSpPr txBox="1"/>
          <p:nvPr/>
        </p:nvSpPr>
        <p:spPr>
          <a:xfrm>
            <a:off x="8549640" y="3739896"/>
            <a:ext cx="3182112" cy="822960"/>
          </a:xfrm>
          <a:prstGeom prst="rect">
            <a:avLst/>
          </a:prstGeom>
          <a:noFill/>
          <a:ln/>
        </p:spPr>
        <p:txBody>
          <a:bodyPr wrap="square" lIns="0" tIns="0" rIns="0" bIns="0" rtlCol="0" anchor="ctr"/>
          <a:lstStyle/>
          <a:p>
            <a:pPr indent="0" marL="0">
              <a:buNone/>
            </a:pPr>
            <a:r>
              <a:rPr lang="en-US" sz="1400" dirty="0">
                <a:solidFill>
                  <a:srgbClr val="0E141B"/>
                </a:solidFill>
                <a:latin typeface="Calibri" pitchFamily="34" charset="0"/>
                <a:ea typeface="Calibri" pitchFamily="34" charset="-122"/>
                <a:cs typeface="Calibri" pitchFamily="34" charset="-120"/>
              </a:rPr>
              <a:t>roadside repair versus scheduled workshop servicing</a:t>
            </a:r>
            <a:endParaRPr lang="en-US" sz="1400" dirty="0"/>
          </a:p>
        </p:txBody>
      </p:sp>
      <p:sp>
        <p:nvSpPr>
          <p:cNvPr id="13" name="whybox"/>
          <p:cNvSpPr/>
          <p:nvPr/>
        </p:nvSpPr>
        <p:spPr>
          <a:xfrm>
            <a:off x="6492240" y="4846320"/>
            <a:ext cx="5239512" cy="1371600"/>
          </a:xfrm>
          <a:prstGeom prst="roundRect">
            <a:avLst>
              <a:gd name="adj" fmla="val 8000"/>
            </a:avLst>
          </a:prstGeom>
          <a:solidFill>
            <a:srgbClr val="0E141B"/>
          </a:solidFill>
          <a:ln w="9525">
            <a:solidFill>
              <a:srgbClr val="0E141B"/>
            </a:solidFill>
            <a:prstDash val="solid"/>
          </a:ln>
          <a:effectLst>
            <a:outerShdw sx="100000" sy="100000" kx="0" ky="0" algn="bl" rotWithShape="0" blurRad="101600" dist="25400" dir="5400000">
              <a:srgbClr val="000000">
                <a:alpha val="22000"/>
              </a:srgbClr>
            </a:outerShdw>
          </a:effectLst>
        </p:spPr>
      </p:sp>
      <p:sp>
        <p:nvSpPr>
          <p:cNvPr id="14" name="Text 11"/>
          <p:cNvSpPr txBox="1"/>
          <p:nvPr/>
        </p:nvSpPr>
        <p:spPr>
          <a:xfrm>
            <a:off x="6720840" y="4937760"/>
            <a:ext cx="4800600" cy="1188720"/>
          </a:xfrm>
          <a:prstGeom prst="rect">
            <a:avLst/>
          </a:prstGeom>
          <a:noFill/>
          <a:ln/>
        </p:spPr>
        <p:txBody>
          <a:bodyPr wrap="square" lIns="0" tIns="0" rIns="0" bIns="0" rtlCol="0" anchor="ctr"/>
          <a:lstStyle/>
          <a:p>
            <a:pPr indent="0" marL="0">
              <a:buNone/>
            </a:pPr>
            <a:r>
              <a:rPr lang="en-US" sz="1400" b="1" dirty="0">
                <a:solidFill>
                  <a:srgbClr val="F2A900"/>
                </a:solidFill>
                <a:latin typeface="Calibri" pitchFamily="34" charset="0"/>
                <a:ea typeface="Calibri" pitchFamily="34" charset="-122"/>
                <a:cs typeface="Calibri" pitchFamily="34" charset="-120"/>
              </a:rPr>
              <a:t>Why it happens</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"Service every 10,000 km" ignores coolant creep, falling oil pressure, a hot gearbox and worn brake linings.</a:t>
            </a:r>
            <a:endParaRPr lang="en-US" sz="14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300" kern="0" dirty="0">
                <a:solidFill>
                  <a:srgbClr val="F2A900"/>
                </a:solidFill>
                <a:latin typeface="Calibri" pitchFamily="34" charset="0"/>
                <a:ea typeface="Calibri" pitchFamily="34" charset="-122"/>
                <a:cs typeface="Calibri" pitchFamily="34" charset="-120"/>
              </a:rPr>
              <a:t>CRISIS 2  |  FUEL ANOMALIES AND PHANTOM SIPHONING</a:t>
            </a:r>
            <a:endParaRPr lang="en-US" sz="1200" dirty="0"/>
          </a:p>
        </p:txBody>
      </p:sp>
      <p:sp>
        <p:nvSpPr>
          <p:cNvPr id="3" name="Text 0"/>
          <p:cNvSpPr/>
          <p:nvPr>
            <p:ph idx="100" type="title" hasCustomPrompt="1"/>
          </p:nvPr>
        </p:nvSpPr>
        <p:spPr>
          <a:xfrm>
            <a:off x="457200" y="566928"/>
            <a:ext cx="11247120" cy="914400"/>
          </a:xfrm>
          <a:prstGeom prst="rect">
            <a:avLst/>
          </a:prstGeom>
          <a:noFill/>
          <a:ln/>
        </p:spPr>
        <p:txBody>
          <a:bodyPr wrap="square" lIns="0" tIns="0" rIns="0" bIns="0" rtlCol="0" anchor="t"/>
          <a:lstStyle/>
          <a:p>
            <a:pPr algn="l" indent="0" marL="0">
              <a:buNone/>
            </a:pPr>
            <a:r>
              <a:rPr lang="en-US" sz="3000" b="1" dirty="0">
                <a:solidFill>
                  <a:srgbClr val="0E141B"/>
                </a:solidFill>
                <a:latin typeface="Cambria" pitchFamily="34" charset="0"/>
                <a:ea typeface="Cambria" pitchFamily="34" charset="-122"/>
                <a:cs typeface="Cambria" pitchFamily="34" charset="-120"/>
              </a:rPr>
              <a:t>Fuel leaves the tank weeks before the invoice tells anyone</a:t>
            </a:r>
            <a:endParaRPr lang="en-US" sz="3000" dirty="0"/>
          </a:p>
        </p:txBody>
      </p:sp>
      <p:sp>
        <p:nvSpPr>
          <p:cNvPr id="4" name="tl0"/>
          <p:cNvSpPr/>
          <p:nvPr/>
        </p:nvSpPr>
        <p:spPr>
          <a:xfrm>
            <a:off x="457200" y="1691640"/>
            <a:ext cx="2103120" cy="1737360"/>
          </a:xfrm>
          <a:prstGeom prst="roundRect">
            <a:avLst>
              <a:gd name="adj" fmla="val 6316"/>
            </a:avLst>
          </a:prstGeom>
          <a:solidFill>
            <a:srgbClr val="F1F4F7"/>
          </a:solidFill>
          <a:ln w="9525">
            <a:solidFill>
              <a:srgbClr val="DDE3EA"/>
            </a:solidFill>
            <a:prstDash val="solid"/>
          </a:ln>
          <a:effectLst>
            <a:outerShdw sx="100000" sy="100000" kx="0" ky="0" algn="bl" rotWithShape="0" blurRad="101600" dist="25400" dir="5400000">
              <a:srgbClr val="000000">
                <a:alpha val="22000"/>
              </a:srgbClr>
            </a:outerShdw>
          </a:effectLst>
        </p:spPr>
      </p:sp>
      <p:sp>
        <p:nvSpPr>
          <p:cNvPr id="5" name="iconcircle"/>
          <p:cNvSpPr/>
          <p:nvPr/>
        </p:nvSpPr>
        <p:spPr>
          <a:xfrm>
            <a:off x="640080" y="1828800"/>
            <a:ext cx="457200" cy="457200"/>
          </a:xfrm>
          <a:prstGeom prst="ellipse">
            <a:avLst/>
          </a:prstGeom>
          <a:solidFill>
            <a:srgbClr val="4A90D9"/>
          </a:solidFill>
          <a:ln w="6350">
            <a:solidFill>
              <a:srgbClr val="4A90D9"/>
            </a:solidFill>
            <a:prstDash val="solid"/>
          </a:ln>
        </p:spPr>
      </p:sp>
      <p:pic>
        <p:nvPicPr>
          <p:cNvPr id="6" name="Image 0" descr="FaGasPump">    </p:cNvPr>
          <p:cNvPicPr>
            <a:picLocks noChangeAspect="1"/>
          </p:cNvPicPr>
          <p:nvPr/>
        </p:nvPicPr>
        <p:blipFill>
          <a:blip r:embed="rId1"/>
          <a:stretch>
            <a:fillRect/>
          </a:stretch>
        </p:blipFill>
        <p:spPr>
          <a:xfrm>
            <a:off x="749808" y="1938528"/>
            <a:ext cx="237744" cy="237744"/>
          </a:xfrm>
          <a:prstGeom prst="rect">
            <a:avLst/>
          </a:prstGeom>
        </p:spPr>
      </p:pic>
      <p:sp>
        <p:nvSpPr>
          <p:cNvPr id="7" name="Text 4"/>
          <p:cNvSpPr txBox="1"/>
          <p:nvPr/>
        </p:nvSpPr>
        <p:spPr>
          <a:xfrm>
            <a:off x="640080" y="2359152"/>
            <a:ext cx="1737360" cy="365760"/>
          </a:xfrm>
          <a:prstGeom prst="rect">
            <a:avLst/>
          </a:prstGeom>
          <a:noFill/>
          <a:ln/>
        </p:spPr>
        <p:txBody>
          <a:bodyPr wrap="square" lIns="0" tIns="0" rIns="0" bIns="0" rtlCol="0" anchor="ctr"/>
          <a:lstStyle/>
          <a:p>
            <a:pPr indent="0" marL="0">
              <a:buNone/>
            </a:pPr>
            <a:r>
              <a:rPr lang="en-US" sz="1800" b="1" dirty="0">
                <a:solidFill>
                  <a:srgbClr val="0E141B"/>
                </a:solidFill>
                <a:latin typeface="Cambria" pitchFamily="34" charset="0"/>
                <a:ea typeface="Cambria" pitchFamily="34" charset="-122"/>
                <a:cs typeface="Cambria" pitchFamily="34" charset="-120"/>
              </a:rPr>
              <a:t>Day 0</a:t>
            </a:r>
            <a:endParaRPr lang="en-US" sz="1800" dirty="0"/>
          </a:p>
        </p:txBody>
      </p:sp>
      <p:sp>
        <p:nvSpPr>
          <p:cNvPr id="8" name="Text 5"/>
          <p:cNvSpPr txBox="1"/>
          <p:nvPr/>
        </p:nvSpPr>
        <p:spPr>
          <a:xfrm>
            <a:off x="640080" y="2724912"/>
            <a:ext cx="1783080" cy="640080"/>
          </a:xfrm>
          <a:prstGeom prst="rect">
            <a:avLst/>
          </a:prstGeom>
          <a:noFill/>
          <a:ln/>
        </p:spPr>
        <p:txBody>
          <a:bodyPr wrap="square" lIns="0" tIns="0" rIns="0" bIns="0" rtlCol="0" anchor="t"/>
          <a:lstStyle/>
          <a:p>
            <a:pPr indent="0" marL="0">
              <a:buNone/>
            </a:pPr>
            <a:r>
              <a:rPr lang="en-US" sz="1300" dirty="0">
                <a:solidFill>
                  <a:srgbClr val="5B6775"/>
                </a:solidFill>
                <a:latin typeface="Calibri" pitchFamily="34" charset="0"/>
                <a:ea typeface="Calibri" pitchFamily="34" charset="-122"/>
                <a:cs typeface="Calibri" pitchFamily="34" charset="-120"/>
              </a:rPr>
              <a:t>Truck fuels and runs the trip</a:t>
            </a:r>
            <a:endParaRPr lang="en-US" sz="1300" dirty="0"/>
          </a:p>
        </p:txBody>
      </p:sp>
      <p:sp>
        <p:nvSpPr>
          <p:cNvPr id="9" name="arrow"/>
          <p:cNvSpPr/>
          <p:nvPr/>
        </p:nvSpPr>
        <p:spPr>
          <a:xfrm>
            <a:off x="2560320" y="2560320"/>
            <a:ext cx="228600" cy="0"/>
          </a:xfrm>
          <a:prstGeom prst="line">
            <a:avLst/>
          </a:prstGeom>
          <a:noFill/>
          <a:ln w="25400">
            <a:solidFill>
              <a:srgbClr val="F2A900"/>
            </a:solidFill>
            <a:prstDash val="solid"/>
            <a:tailEnd type="triangle"/>
          </a:ln>
        </p:spPr>
      </p:sp>
      <p:sp>
        <p:nvSpPr>
          <p:cNvPr id="10" name="tl1"/>
          <p:cNvSpPr/>
          <p:nvPr/>
        </p:nvSpPr>
        <p:spPr>
          <a:xfrm>
            <a:off x="2788920" y="1691640"/>
            <a:ext cx="2103120" cy="1737360"/>
          </a:xfrm>
          <a:prstGeom prst="roundRect">
            <a:avLst>
              <a:gd name="adj" fmla="val 6316"/>
            </a:avLst>
          </a:prstGeom>
          <a:solidFill>
            <a:srgbClr val="F1F4F7"/>
          </a:solidFill>
          <a:ln w="9525">
            <a:solidFill>
              <a:srgbClr val="DDE3EA"/>
            </a:solidFill>
            <a:prstDash val="solid"/>
          </a:ln>
          <a:effectLst>
            <a:outerShdw sx="100000" sy="100000" kx="0" ky="0" algn="bl" rotWithShape="0" blurRad="101600" dist="25400" dir="5400000">
              <a:srgbClr val="000000">
                <a:alpha val="22000"/>
              </a:srgbClr>
            </a:outerShdw>
          </a:effectLst>
        </p:spPr>
      </p:sp>
      <p:sp>
        <p:nvSpPr>
          <p:cNvPr id="11" name="iconcircle"/>
          <p:cNvSpPr/>
          <p:nvPr/>
        </p:nvSpPr>
        <p:spPr>
          <a:xfrm>
            <a:off x="2971800" y="1828800"/>
            <a:ext cx="457200" cy="457200"/>
          </a:xfrm>
          <a:prstGeom prst="ellipse">
            <a:avLst/>
          </a:prstGeom>
          <a:solidFill>
            <a:srgbClr val="5B6775"/>
          </a:solidFill>
          <a:ln w="6350">
            <a:solidFill>
              <a:srgbClr val="5B6775"/>
            </a:solidFill>
            <a:prstDash val="solid"/>
          </a:ln>
        </p:spPr>
      </p:sp>
      <p:pic>
        <p:nvPicPr>
          <p:cNvPr id="12" name="Image 1" descr="FaEnvelope">    </p:cNvPr>
          <p:cNvPicPr>
            <a:picLocks noChangeAspect="1"/>
          </p:cNvPicPr>
          <p:nvPr/>
        </p:nvPicPr>
        <p:blipFill>
          <a:blip r:embed="rId2"/>
          <a:stretch>
            <a:fillRect/>
          </a:stretch>
        </p:blipFill>
        <p:spPr>
          <a:xfrm>
            <a:off x="3081528" y="1938528"/>
            <a:ext cx="237744" cy="237744"/>
          </a:xfrm>
          <a:prstGeom prst="rect">
            <a:avLst/>
          </a:prstGeom>
        </p:spPr>
      </p:pic>
      <p:sp>
        <p:nvSpPr>
          <p:cNvPr id="13" name="Text 9"/>
          <p:cNvSpPr txBox="1"/>
          <p:nvPr/>
        </p:nvSpPr>
        <p:spPr>
          <a:xfrm>
            <a:off x="2971800" y="2359152"/>
            <a:ext cx="1737360" cy="365760"/>
          </a:xfrm>
          <a:prstGeom prst="rect">
            <a:avLst/>
          </a:prstGeom>
          <a:noFill/>
          <a:ln/>
        </p:spPr>
        <p:txBody>
          <a:bodyPr wrap="square" lIns="0" tIns="0" rIns="0" bIns="0" rtlCol="0" anchor="ctr"/>
          <a:lstStyle/>
          <a:p>
            <a:pPr indent="0" marL="0">
              <a:buNone/>
            </a:pPr>
            <a:r>
              <a:rPr lang="en-US" sz="1800" b="1" dirty="0">
                <a:solidFill>
                  <a:srgbClr val="0E141B"/>
                </a:solidFill>
                <a:latin typeface="Cambria" pitchFamily="34" charset="0"/>
                <a:ea typeface="Cambria" pitchFamily="34" charset="-122"/>
                <a:cs typeface="Cambria" pitchFamily="34" charset="-120"/>
              </a:rPr>
              <a:t>Days 7 to 25</a:t>
            </a:r>
            <a:endParaRPr lang="en-US" sz="1800" dirty="0"/>
          </a:p>
        </p:txBody>
      </p:sp>
      <p:sp>
        <p:nvSpPr>
          <p:cNvPr id="14" name="Text 10"/>
          <p:cNvSpPr txBox="1"/>
          <p:nvPr/>
        </p:nvSpPr>
        <p:spPr>
          <a:xfrm>
            <a:off x="2971800" y="2724912"/>
            <a:ext cx="1783080" cy="640080"/>
          </a:xfrm>
          <a:prstGeom prst="rect">
            <a:avLst/>
          </a:prstGeom>
          <a:noFill/>
          <a:ln/>
        </p:spPr>
        <p:txBody>
          <a:bodyPr wrap="square" lIns="0" tIns="0" rIns="0" bIns="0" rtlCol="0" anchor="t"/>
          <a:lstStyle/>
          <a:p>
            <a:pPr indent="0" marL="0">
              <a:buNone/>
            </a:pPr>
            <a:r>
              <a:rPr lang="en-US" sz="1300" dirty="0">
                <a:solidFill>
                  <a:srgbClr val="5B6775"/>
                </a:solidFill>
                <a:latin typeface="Calibri" pitchFamily="34" charset="0"/>
                <a:ea typeface="Calibri" pitchFamily="34" charset="-122"/>
                <a:cs typeface="Calibri" pitchFamily="34" charset="-120"/>
              </a:rPr>
              <a:t>Station invoice finally arrives</a:t>
            </a:r>
            <a:endParaRPr lang="en-US" sz="1300" dirty="0"/>
          </a:p>
        </p:txBody>
      </p:sp>
      <p:sp>
        <p:nvSpPr>
          <p:cNvPr id="15" name="arrow"/>
          <p:cNvSpPr/>
          <p:nvPr/>
        </p:nvSpPr>
        <p:spPr>
          <a:xfrm>
            <a:off x="4892040" y="2560320"/>
            <a:ext cx="228600" cy="0"/>
          </a:xfrm>
          <a:prstGeom prst="line">
            <a:avLst/>
          </a:prstGeom>
          <a:noFill/>
          <a:ln w="25400">
            <a:solidFill>
              <a:srgbClr val="F2A900"/>
            </a:solidFill>
            <a:prstDash val="solid"/>
            <a:tailEnd type="triangle"/>
          </a:ln>
        </p:spPr>
      </p:sp>
      <p:sp>
        <p:nvSpPr>
          <p:cNvPr id="16" name="tl2"/>
          <p:cNvSpPr/>
          <p:nvPr/>
        </p:nvSpPr>
        <p:spPr>
          <a:xfrm>
            <a:off x="5120640" y="1691640"/>
            <a:ext cx="2103120" cy="1737360"/>
          </a:xfrm>
          <a:prstGeom prst="roundRect">
            <a:avLst>
              <a:gd name="adj" fmla="val 6316"/>
            </a:avLst>
          </a:prstGeom>
          <a:solidFill>
            <a:srgbClr val="F1F4F7"/>
          </a:solidFill>
          <a:ln w="9525">
            <a:solidFill>
              <a:srgbClr val="DDE3EA"/>
            </a:solidFill>
            <a:prstDash val="solid"/>
          </a:ln>
          <a:effectLst>
            <a:outerShdw sx="100000" sy="100000" kx="0" ky="0" algn="bl" rotWithShape="0" blurRad="101600" dist="25400" dir="5400000">
              <a:srgbClr val="000000">
                <a:alpha val="22000"/>
              </a:srgbClr>
            </a:outerShdw>
          </a:effectLst>
        </p:spPr>
      </p:sp>
      <p:sp>
        <p:nvSpPr>
          <p:cNvPr id="17" name="iconcircle"/>
          <p:cNvSpPr/>
          <p:nvPr/>
        </p:nvSpPr>
        <p:spPr>
          <a:xfrm>
            <a:off x="5303520" y="1828800"/>
            <a:ext cx="457200" cy="457200"/>
          </a:xfrm>
          <a:prstGeom prst="ellipse">
            <a:avLst/>
          </a:prstGeom>
          <a:solidFill>
            <a:srgbClr val="E4572E"/>
          </a:solidFill>
          <a:ln w="6350">
            <a:solidFill>
              <a:srgbClr val="E4572E"/>
            </a:solidFill>
            <a:prstDash val="solid"/>
          </a:ln>
        </p:spPr>
      </p:sp>
      <p:pic>
        <p:nvPicPr>
          <p:cNvPr id="18" name="Image 2" descr="FaClock">    </p:cNvPr>
          <p:cNvPicPr>
            <a:picLocks noChangeAspect="1"/>
          </p:cNvPicPr>
          <p:nvPr/>
        </p:nvPicPr>
        <p:blipFill>
          <a:blip r:embed="rId3"/>
          <a:stretch>
            <a:fillRect/>
          </a:stretch>
        </p:blipFill>
        <p:spPr>
          <a:xfrm>
            <a:off x="5413248" y="1938528"/>
            <a:ext cx="237744" cy="237744"/>
          </a:xfrm>
          <a:prstGeom prst="rect">
            <a:avLst/>
          </a:prstGeom>
        </p:spPr>
      </p:pic>
      <p:sp>
        <p:nvSpPr>
          <p:cNvPr id="19" name="Text 14"/>
          <p:cNvSpPr txBox="1"/>
          <p:nvPr/>
        </p:nvSpPr>
        <p:spPr>
          <a:xfrm>
            <a:off x="5303520" y="2359152"/>
            <a:ext cx="1737360" cy="365760"/>
          </a:xfrm>
          <a:prstGeom prst="rect">
            <a:avLst/>
          </a:prstGeom>
          <a:noFill/>
          <a:ln/>
        </p:spPr>
        <p:txBody>
          <a:bodyPr wrap="square" lIns="0" tIns="0" rIns="0" bIns="0" rtlCol="0" anchor="ctr"/>
          <a:lstStyle/>
          <a:p>
            <a:pPr indent="0" marL="0">
              <a:buNone/>
            </a:pPr>
            <a:r>
              <a:rPr lang="en-US" sz="1800" b="1" dirty="0">
                <a:solidFill>
                  <a:srgbClr val="0E141B"/>
                </a:solidFill>
                <a:latin typeface="Cambria" pitchFamily="34" charset="0"/>
                <a:ea typeface="Cambria" pitchFamily="34" charset="-122"/>
                <a:cs typeface="Cambria" pitchFamily="34" charset="-120"/>
              </a:rPr>
              <a:t>Day 30+</a:t>
            </a:r>
            <a:endParaRPr lang="en-US" sz="1800" dirty="0"/>
          </a:p>
        </p:txBody>
      </p:sp>
      <p:sp>
        <p:nvSpPr>
          <p:cNvPr id="20" name="Text 15"/>
          <p:cNvSpPr txBox="1"/>
          <p:nvPr/>
        </p:nvSpPr>
        <p:spPr>
          <a:xfrm>
            <a:off x="5303520" y="2724912"/>
            <a:ext cx="1783080" cy="640080"/>
          </a:xfrm>
          <a:prstGeom prst="rect">
            <a:avLst/>
          </a:prstGeom>
          <a:noFill/>
          <a:ln/>
        </p:spPr>
        <p:txBody>
          <a:bodyPr wrap="square" lIns="0" tIns="0" rIns="0" bIns="0" rtlCol="0" anchor="t"/>
          <a:lstStyle/>
          <a:p>
            <a:pPr indent="0" marL="0">
              <a:buNone/>
            </a:pPr>
            <a:r>
              <a:rPr lang="en-US" sz="1300" dirty="0">
                <a:solidFill>
                  <a:srgbClr val="5B6775"/>
                </a:solidFill>
                <a:latin typeface="Calibri" pitchFamily="34" charset="0"/>
                <a:ea typeface="Calibri" pitchFamily="34" charset="-122"/>
                <a:cs typeface="Calibri" pitchFamily="34" charset="-120"/>
              </a:rPr>
              <a:t>Month closes, theft is "found"</a:t>
            </a:r>
            <a:endParaRPr lang="en-US" sz="1300" dirty="0"/>
          </a:p>
        </p:txBody>
      </p:sp>
      <p:sp>
        <p:nvSpPr>
          <p:cNvPr id="21" name="Text 16"/>
          <p:cNvSpPr txBox="1"/>
          <p:nvPr/>
        </p:nvSpPr>
        <p:spPr>
          <a:xfrm>
            <a:off x="457200" y="3703320"/>
            <a:ext cx="6766560" cy="731520"/>
          </a:xfrm>
          <a:prstGeom prst="rect">
            <a:avLst/>
          </a:prstGeom>
          <a:noFill/>
          <a:ln/>
        </p:spPr>
        <p:txBody>
          <a:bodyPr wrap="square" lIns="0" tIns="0" rIns="0" bIns="0" rtlCol="0" anchor="t"/>
          <a:lstStyle/>
          <a:p>
            <a:pPr indent="0" marL="0">
              <a:buNone/>
            </a:pPr>
            <a:r>
              <a:rPr lang="en-US" sz="1600" dirty="0">
                <a:solidFill>
                  <a:srgbClr val="0E141B"/>
                </a:solidFill>
                <a:latin typeface="Calibri" pitchFamily="34" charset="0"/>
                <a:ea typeface="Calibri" pitchFamily="34" charset="-122"/>
                <a:cs typeface="Calibri" pitchFamily="34" charset="-120"/>
              </a:rPr>
              <a:t>Fuel is 30% to 50% of operating cost for East African haulage companies, so a few percent of leakage is a large number.</a:t>
            </a:r>
            <a:endParaRPr lang="en-US" sz="1600" dirty="0"/>
          </a:p>
        </p:txBody>
      </p:sp>
      <p:sp>
        <p:nvSpPr>
          <p:cNvPr id="22" name="Text 17"/>
          <p:cNvSpPr txBox="1"/>
          <p:nvPr/>
        </p:nvSpPr>
        <p:spPr>
          <a:xfrm>
            <a:off x="457200" y="4526280"/>
            <a:ext cx="6766560" cy="320040"/>
          </a:xfrm>
          <a:prstGeom prst="rect">
            <a:avLst/>
          </a:prstGeom>
          <a:noFill/>
          <a:ln/>
        </p:spPr>
        <p:txBody>
          <a:bodyPr wrap="square" lIns="0" tIns="0" rIns="0" bIns="0" rtlCol="0" anchor="ctr"/>
          <a:lstStyle/>
          <a:p>
            <a:pPr indent="0" marL="0">
              <a:buNone/>
            </a:pPr>
            <a:r>
              <a:rPr lang="en-US" sz="1400" b="1" dirty="0">
                <a:solidFill>
                  <a:srgbClr val="F2A900"/>
                </a:solidFill>
                <a:latin typeface="Calibri" pitchFamily="34" charset="0"/>
                <a:ea typeface="Calibri" pitchFamily="34" charset="-122"/>
                <a:cs typeface="Calibri" pitchFamily="34" charset="-120"/>
              </a:rPr>
              <a:t>Four ways fuel leaks</a:t>
            </a:r>
            <a:endParaRPr lang="en-US" sz="1400" dirty="0"/>
          </a:p>
        </p:txBody>
      </p:sp>
      <p:sp>
        <p:nvSpPr>
          <p:cNvPr id="23" name="Text 18"/>
          <p:cNvSpPr txBox="1"/>
          <p:nvPr/>
        </p:nvSpPr>
        <p:spPr>
          <a:xfrm>
            <a:off x="457200" y="4892040"/>
            <a:ext cx="6766560" cy="13716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0E141B"/>
                </a:solidFill>
                <a:latin typeface="Calibri" pitchFamily="34" charset="0"/>
                <a:ea typeface="Calibri" pitchFamily="34" charset="-122"/>
                <a:cs typeface="Calibri" pitchFamily="34" charset="-120"/>
              </a:rPr>
              <a:t>Siphoning at roadside stops or depots</a:t>
            </a:r>
            <a:endParaRPr lang="en-US" sz="1400" dirty="0"/>
          </a:p>
          <a:p>
            <a:pPr marL="177800" indent="-177800">
              <a:spcAft>
                <a:spcPts val="400"/>
              </a:spcAft>
              <a:buSzPct val="100000"/>
              <a:buChar char="•"/>
            </a:pPr>
            <a:r>
              <a:rPr lang="en-US" sz="1400" dirty="0">
                <a:solidFill>
                  <a:srgbClr val="0E141B"/>
                </a:solidFill>
                <a:latin typeface="Calibri" pitchFamily="34" charset="0"/>
                <a:ea typeface="Calibri" pitchFamily="34" charset="-122"/>
                <a:cs typeface="Calibri" pitchFamily="34" charset="-120"/>
              </a:rPr>
              <a:t>Long idling in port and border queues</a:t>
            </a:r>
            <a:endParaRPr lang="en-US" sz="1400" dirty="0"/>
          </a:p>
          <a:p>
            <a:pPr marL="177800" indent="-177800">
              <a:spcAft>
                <a:spcPts val="400"/>
              </a:spcAft>
              <a:buSzPct val="100000"/>
              <a:buChar char="•"/>
            </a:pPr>
            <a:r>
              <a:rPr lang="en-US" sz="1400" dirty="0">
                <a:solidFill>
                  <a:srgbClr val="0E141B"/>
                </a:solidFill>
                <a:latin typeface="Calibri" pitchFamily="34" charset="0"/>
                <a:ea typeface="Calibri" pitchFamily="34" charset="-122"/>
                <a:cs typeface="Calibri" pitchFamily="34" charset="-120"/>
              </a:rPr>
              <a:t>Fuel-card transactions larger than what reached the tank</a:t>
            </a:r>
            <a:endParaRPr lang="en-US" sz="1400" dirty="0"/>
          </a:p>
          <a:p>
            <a:pPr marL="177800" indent="-177800">
              <a:spcAft>
                <a:spcPts val="400"/>
              </a:spcAft>
              <a:buSzPct val="100000"/>
              <a:buChar char="•"/>
            </a:pPr>
            <a:r>
              <a:rPr lang="en-US" sz="1400" dirty="0">
                <a:solidFill>
                  <a:srgbClr val="0E141B"/>
                </a:solidFill>
                <a:latin typeface="Calibri" pitchFamily="34" charset="0"/>
                <a:ea typeface="Calibri" pitchFamily="34" charset="-122"/>
                <a:cs typeface="Calibri" pitchFamily="34" charset="-120"/>
              </a:rPr>
              <a:t>Poorly calibrated engines burning more per 100 km</a:t>
            </a:r>
            <a:endParaRPr lang="en-US" sz="1400" dirty="0"/>
          </a:p>
        </p:txBody>
      </p:sp>
      <p:sp>
        <p:nvSpPr>
          <p:cNvPr id="24" name="fuelstats"/>
          <p:cNvSpPr/>
          <p:nvPr/>
        </p:nvSpPr>
        <p:spPr>
          <a:xfrm>
            <a:off x="7589520" y="1691640"/>
            <a:ext cx="4142232" cy="4526280"/>
          </a:xfrm>
          <a:prstGeom prst="roundRect">
            <a:avLst>
              <a:gd name="adj" fmla="val 2649"/>
            </a:avLst>
          </a:prstGeom>
          <a:solidFill>
            <a:srgbClr val="0E141B"/>
          </a:solidFill>
          <a:ln w="9525">
            <a:solidFill>
              <a:srgbClr val="0E141B"/>
            </a:solidFill>
            <a:prstDash val="solid"/>
          </a:ln>
          <a:effectLst>
            <a:outerShdw sx="100000" sy="100000" kx="0" ky="0" algn="bl" rotWithShape="0" blurRad="101600" dist="25400" dir="5400000">
              <a:srgbClr val="000000">
                <a:alpha val="22000"/>
              </a:srgbClr>
            </a:outerShdw>
          </a:effectLst>
        </p:spPr>
      </p:sp>
      <p:sp>
        <p:nvSpPr>
          <p:cNvPr id="25" name="Text 20"/>
          <p:cNvSpPr txBox="1"/>
          <p:nvPr/>
        </p:nvSpPr>
        <p:spPr>
          <a:xfrm>
            <a:off x="7863840" y="1828800"/>
            <a:ext cx="3611880" cy="548640"/>
          </a:xfrm>
          <a:prstGeom prst="rect">
            <a:avLst/>
          </a:prstGeom>
          <a:noFill/>
          <a:ln/>
        </p:spPr>
        <p:txBody>
          <a:bodyPr wrap="square" lIns="0" tIns="0" rIns="0" bIns="0" rtlCol="0" anchor="t"/>
          <a:lstStyle/>
          <a:p>
            <a:pPr indent="0" marL="0">
              <a:buNone/>
            </a:pPr>
            <a:r>
              <a:rPr lang="en-US" sz="1300" b="1" dirty="0">
                <a:solidFill>
                  <a:srgbClr val="F2A900"/>
                </a:solidFill>
                <a:latin typeface="Calibri" pitchFamily="34" charset="0"/>
                <a:ea typeface="Calibri" pitchFamily="34" charset="-122"/>
                <a:cs typeface="Calibri" pitchFamily="34" charset="-120"/>
              </a:rPr>
              <a:t>What the tank sensors reveal in the demo data</a:t>
            </a:r>
            <a:endParaRPr lang="en-US" sz="1300" dirty="0"/>
          </a:p>
        </p:txBody>
      </p:sp>
      <p:sp>
        <p:nvSpPr>
          <p:cNvPr id="26" name="Text 21"/>
          <p:cNvSpPr txBox="1"/>
          <p:nvPr/>
        </p:nvSpPr>
        <p:spPr>
          <a:xfrm>
            <a:off x="7863840" y="2468880"/>
            <a:ext cx="1600200" cy="822960"/>
          </a:xfrm>
          <a:prstGeom prst="rect">
            <a:avLst/>
          </a:prstGeom>
          <a:noFill/>
          <a:ln/>
        </p:spPr>
        <p:txBody>
          <a:bodyPr wrap="square" lIns="0" tIns="0" rIns="0" bIns="0" rtlCol="0" anchor="ctr"/>
          <a:lstStyle/>
          <a:p>
            <a:pPr indent="0" marL="0">
              <a:buNone/>
            </a:pPr>
            <a:r>
              <a:rPr lang="en-US" sz="3200" b="1" dirty="0">
                <a:solidFill>
                  <a:srgbClr val="F2A900"/>
                </a:solidFill>
                <a:latin typeface="Cambria" pitchFamily="34" charset="0"/>
                <a:ea typeface="Cambria" pitchFamily="34" charset="-122"/>
                <a:cs typeface="Cambria" pitchFamily="34" charset="-120"/>
              </a:rPr>
              <a:t>110</a:t>
            </a:r>
            <a:endParaRPr lang="en-US" sz="3200" dirty="0"/>
          </a:p>
        </p:txBody>
      </p:sp>
      <p:sp>
        <p:nvSpPr>
          <p:cNvPr id="27" name="Text 22"/>
          <p:cNvSpPr txBox="1"/>
          <p:nvPr/>
        </p:nvSpPr>
        <p:spPr>
          <a:xfrm>
            <a:off x="9509760" y="2468880"/>
            <a:ext cx="205740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siphon events, 9,767 L, found by 5 drivers</a:t>
            </a:r>
            <a:endParaRPr lang="en-US" sz="1300" dirty="0"/>
          </a:p>
        </p:txBody>
      </p:sp>
      <p:sp>
        <p:nvSpPr>
          <p:cNvPr id="28" name="Text 23"/>
          <p:cNvSpPr txBox="1"/>
          <p:nvPr/>
        </p:nvSpPr>
        <p:spPr>
          <a:xfrm>
            <a:off x="7863840" y="3703320"/>
            <a:ext cx="1600200" cy="822960"/>
          </a:xfrm>
          <a:prstGeom prst="rect">
            <a:avLst/>
          </a:prstGeom>
          <a:noFill/>
          <a:ln/>
        </p:spPr>
        <p:txBody>
          <a:bodyPr wrap="square" lIns="0" tIns="0" rIns="0" bIns="0" rtlCol="0" anchor="ctr"/>
          <a:lstStyle/>
          <a:p>
            <a:pPr indent="0" marL="0">
              <a:buNone/>
            </a:pPr>
            <a:r>
              <a:rPr lang="en-US" sz="3200" b="1" dirty="0">
                <a:solidFill>
                  <a:srgbClr val="F2A900"/>
                </a:solidFill>
                <a:latin typeface="Cambria" pitchFamily="34" charset="0"/>
                <a:ea typeface="Cambria" pitchFamily="34" charset="-122"/>
                <a:cs typeface="Cambria" pitchFamily="34" charset="-120"/>
              </a:rPr>
              <a:t>125</a:t>
            </a:r>
            <a:endParaRPr lang="en-US" sz="3200" dirty="0"/>
          </a:p>
        </p:txBody>
      </p:sp>
      <p:sp>
        <p:nvSpPr>
          <p:cNvPr id="29" name="Text 24"/>
          <p:cNvSpPr txBox="1"/>
          <p:nvPr/>
        </p:nvSpPr>
        <p:spPr>
          <a:xfrm>
            <a:off x="9509760" y="3703320"/>
            <a:ext cx="205740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fuel-card transactions billed for more fuel than the tank received</a:t>
            </a:r>
            <a:endParaRPr lang="en-US" sz="1300" dirty="0"/>
          </a:p>
        </p:txBody>
      </p:sp>
      <p:sp>
        <p:nvSpPr>
          <p:cNvPr id="30" name="Text 25"/>
          <p:cNvSpPr txBox="1"/>
          <p:nvPr/>
        </p:nvSpPr>
        <p:spPr>
          <a:xfrm>
            <a:off x="7863840" y="4937760"/>
            <a:ext cx="1600200" cy="822960"/>
          </a:xfrm>
          <a:prstGeom prst="rect">
            <a:avLst/>
          </a:prstGeom>
          <a:noFill/>
          <a:ln/>
        </p:spPr>
        <p:txBody>
          <a:bodyPr wrap="square" lIns="0" tIns="0" rIns="0" bIns="0" rtlCol="0" anchor="ctr"/>
          <a:lstStyle/>
          <a:p>
            <a:pPr indent="0" marL="0">
              <a:buNone/>
            </a:pPr>
            <a:r>
              <a:rPr lang="en-US" sz="3200" b="1" dirty="0">
                <a:solidFill>
                  <a:srgbClr val="F2A900"/>
                </a:solidFill>
                <a:latin typeface="Cambria" pitchFamily="34" charset="0"/>
                <a:ea typeface="Cambria" pitchFamily="34" charset="-122"/>
                <a:cs typeface="Cambria" pitchFamily="34" charset="-120"/>
              </a:rPr>
              <a:t>$28,959</a:t>
            </a:r>
            <a:endParaRPr lang="en-US" sz="3200" dirty="0"/>
          </a:p>
        </p:txBody>
      </p:sp>
      <p:sp>
        <p:nvSpPr>
          <p:cNvPr id="31" name="Text 26"/>
          <p:cNvSpPr txBox="1"/>
          <p:nvPr/>
        </p:nvSpPr>
        <p:spPr>
          <a:xfrm>
            <a:off x="9509760" y="4937760"/>
            <a:ext cx="205740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leaked in one quarter by a 40-truck fleet</a:t>
            </a:r>
            <a:endParaRPr lang="en-US" sz="13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300" kern="0" dirty="0">
                <a:solidFill>
                  <a:srgbClr val="4A90D9"/>
                </a:solidFill>
                <a:latin typeface="Calibri" pitchFamily="34" charset="0"/>
                <a:ea typeface="Calibri" pitchFamily="34" charset="-122"/>
                <a:cs typeface="Calibri" pitchFamily="34" charset="-120"/>
              </a:rPr>
              <a:t>CRISIS 3  |  THE GAP BETWEEN DASHBOARDS AND OPERATIONS</a:t>
            </a:r>
            <a:endParaRPr lang="en-US" sz="1200" dirty="0"/>
          </a:p>
        </p:txBody>
      </p:sp>
      <p:sp>
        <p:nvSpPr>
          <p:cNvPr id="3" name="Text 0"/>
          <p:cNvSpPr/>
          <p:nvPr>
            <p:ph idx="100" type="title" hasCustomPrompt="1"/>
          </p:nvPr>
        </p:nvSpPr>
        <p:spPr>
          <a:xfrm>
            <a:off x="457200" y="566928"/>
            <a:ext cx="11247120" cy="914400"/>
          </a:xfrm>
          <a:prstGeom prst="rect">
            <a:avLst/>
          </a:prstGeom>
          <a:noFill/>
          <a:ln/>
        </p:spPr>
        <p:txBody>
          <a:bodyPr wrap="square" lIns="0" tIns="0" rIns="0" bIns="0" rtlCol="0" anchor="t"/>
          <a:lstStyle/>
          <a:p>
            <a:pPr algn="l" indent="0" marL="0">
              <a:buNone/>
            </a:pPr>
            <a:r>
              <a:rPr lang="en-US" sz="3000" b="1" dirty="0">
                <a:solidFill>
                  <a:srgbClr val="0E141B"/>
                </a:solidFill>
                <a:latin typeface="Cambria" pitchFamily="34" charset="0"/>
                <a:ea typeface="Cambria" pitchFamily="34" charset="-122"/>
                <a:cs typeface="Cambria" pitchFamily="34" charset="-120"/>
              </a:rPr>
              <a:t>Dispatch cannot see what telematics and the workshop already know</a:t>
            </a:r>
            <a:endParaRPr lang="en-US" sz="3000" dirty="0"/>
          </a:p>
        </p:txBody>
      </p:sp>
      <p:sp>
        <p:nvSpPr>
          <p:cNvPr id="4" name="sys0"/>
          <p:cNvSpPr/>
          <p:nvPr/>
        </p:nvSpPr>
        <p:spPr>
          <a:xfrm>
            <a:off x="457200" y="1691640"/>
            <a:ext cx="3474720" cy="2103120"/>
          </a:xfrm>
          <a:prstGeom prst="roundRect">
            <a:avLst>
              <a:gd name="adj" fmla="val 5217"/>
            </a:avLst>
          </a:prstGeom>
          <a:solidFill>
            <a:srgbClr val="F1F4F7"/>
          </a:solidFill>
          <a:ln w="9525">
            <a:solidFill>
              <a:srgbClr val="DDE3EA"/>
            </a:solidFill>
            <a:prstDash val="solid"/>
          </a:ln>
          <a:effectLst>
            <a:outerShdw sx="100000" sy="100000" kx="0" ky="0" algn="bl" rotWithShape="0" blurRad="101600" dist="25400" dir="5400000">
              <a:srgbClr val="000000">
                <a:alpha val="22000"/>
              </a:srgbClr>
            </a:outerShdw>
          </a:effectLst>
        </p:spPr>
      </p:sp>
      <p:sp>
        <p:nvSpPr>
          <p:cNvPr id="5" name="iconcircle"/>
          <p:cNvSpPr/>
          <p:nvPr/>
        </p:nvSpPr>
        <p:spPr>
          <a:xfrm>
            <a:off x="685800" y="1874520"/>
            <a:ext cx="548640" cy="548640"/>
          </a:xfrm>
          <a:prstGeom prst="ellipse">
            <a:avLst/>
          </a:prstGeom>
          <a:solidFill>
            <a:srgbClr val="E4572E"/>
          </a:solidFill>
          <a:ln w="6350">
            <a:solidFill>
              <a:srgbClr val="E4572E"/>
            </a:solidFill>
            <a:prstDash val="solid"/>
          </a:ln>
        </p:spPr>
      </p:sp>
      <p:pic>
        <p:nvPicPr>
          <p:cNvPr id="6" name="Image 0" descr="FaSatelliteDish">    </p:cNvPr>
          <p:cNvPicPr>
            <a:picLocks noChangeAspect="1"/>
          </p:cNvPicPr>
          <p:nvPr/>
        </p:nvPicPr>
        <p:blipFill>
          <a:blip r:embed="rId1"/>
          <a:stretch>
            <a:fillRect/>
          </a:stretch>
        </p:blipFill>
        <p:spPr>
          <a:xfrm>
            <a:off x="817474" y="2006194"/>
            <a:ext cx="285293" cy="285293"/>
          </a:xfrm>
          <a:prstGeom prst="rect">
            <a:avLst/>
          </a:prstGeom>
        </p:spPr>
      </p:pic>
      <p:sp>
        <p:nvSpPr>
          <p:cNvPr id="7" name="Text 4"/>
          <p:cNvSpPr txBox="1"/>
          <p:nvPr/>
        </p:nvSpPr>
        <p:spPr>
          <a:xfrm>
            <a:off x="1371600" y="1874520"/>
            <a:ext cx="2377440" cy="548640"/>
          </a:xfrm>
          <a:prstGeom prst="rect">
            <a:avLst/>
          </a:prstGeom>
          <a:noFill/>
          <a:ln/>
        </p:spPr>
        <p:txBody>
          <a:bodyPr wrap="square" lIns="0" tIns="0" rIns="0" bIns="0" rtlCol="0" anchor="ctr"/>
          <a:lstStyle/>
          <a:p>
            <a:pPr indent="0" marL="0">
              <a:buNone/>
            </a:pPr>
            <a:r>
              <a:rPr lang="en-US" sz="1800" b="1" dirty="0">
                <a:solidFill>
                  <a:srgbClr val="0E141B"/>
                </a:solidFill>
                <a:latin typeface="Cambria" pitchFamily="34" charset="0"/>
                <a:ea typeface="Cambria" pitchFamily="34" charset="-122"/>
                <a:cs typeface="Cambria" pitchFamily="34" charset="-120"/>
              </a:rPr>
              <a:t>Telematics portal</a:t>
            </a:r>
            <a:endParaRPr lang="en-US" sz="1800" dirty="0"/>
          </a:p>
        </p:txBody>
      </p:sp>
      <p:sp>
        <p:nvSpPr>
          <p:cNvPr id="8" name="Text 5"/>
          <p:cNvSpPr txBox="1"/>
          <p:nvPr/>
        </p:nvSpPr>
        <p:spPr>
          <a:xfrm>
            <a:off x="685800" y="2651760"/>
            <a:ext cx="3017520" cy="1051560"/>
          </a:xfrm>
          <a:prstGeom prst="rect">
            <a:avLst/>
          </a:prstGeom>
          <a:noFill/>
          <a:ln/>
        </p:spPr>
        <p:txBody>
          <a:bodyPr wrap="square" lIns="0" tIns="0" rIns="0" bIns="0" rtlCol="0" anchor="t"/>
          <a:lstStyle/>
          <a:p>
            <a:pPr indent="0" marL="0">
              <a:buNone/>
            </a:pPr>
            <a:r>
              <a:rPr lang="en-US" sz="1700" dirty="0">
                <a:solidFill>
                  <a:srgbClr val="0E141B"/>
                </a:solidFill>
                <a:latin typeface="Calibri" pitchFamily="34" charset="0"/>
                <a:ea typeface="Calibri" pitchFamily="34" charset="-122"/>
                <a:cs typeface="Calibri" pitchFamily="34" charset="-120"/>
              </a:rPr>
              <a:t>Fault code P0218: transmission over-temperature on KBZ 123A</a:t>
            </a:r>
            <a:endParaRPr lang="en-US" sz="1700" dirty="0"/>
          </a:p>
        </p:txBody>
      </p:sp>
      <p:sp>
        <p:nvSpPr>
          <p:cNvPr id="9" name="gap"/>
          <p:cNvSpPr/>
          <p:nvPr/>
        </p:nvSpPr>
        <p:spPr>
          <a:xfrm>
            <a:off x="3931920" y="2606040"/>
            <a:ext cx="411480" cy="411480"/>
          </a:xfrm>
          <a:prstGeom prst="ellipse">
            <a:avLst/>
          </a:prstGeom>
          <a:solidFill>
            <a:srgbClr val="FFFFFF"/>
          </a:solidFill>
          <a:ln w="19050">
            <a:solidFill>
              <a:srgbClr val="E4572E"/>
            </a:solidFill>
            <a:prstDash val="solid"/>
          </a:ln>
        </p:spPr>
      </p:sp>
      <p:sp>
        <p:nvSpPr>
          <p:cNvPr id="10" name="Text 7"/>
          <p:cNvSpPr txBox="1"/>
          <p:nvPr/>
        </p:nvSpPr>
        <p:spPr>
          <a:xfrm>
            <a:off x="3931920" y="2606040"/>
            <a:ext cx="411480" cy="411480"/>
          </a:xfrm>
          <a:prstGeom prst="rect">
            <a:avLst/>
          </a:prstGeom>
          <a:noFill/>
          <a:ln/>
        </p:spPr>
        <p:txBody>
          <a:bodyPr wrap="square" lIns="0" tIns="0" rIns="0" bIns="0" rtlCol="0" anchor="ctr"/>
          <a:lstStyle/>
          <a:p>
            <a:pPr algn="ctr" indent="0" marL="0">
              <a:buNone/>
            </a:pPr>
            <a:r>
              <a:rPr lang="en-US" sz="1600" b="1" dirty="0">
                <a:solidFill>
                  <a:srgbClr val="E4572E"/>
                </a:solidFill>
                <a:latin typeface="Calibri" pitchFamily="34" charset="0"/>
                <a:ea typeface="Calibri" pitchFamily="34" charset="-122"/>
                <a:cs typeface="Calibri" pitchFamily="34" charset="-120"/>
              </a:rPr>
              <a:t>?</a:t>
            </a:r>
            <a:endParaRPr lang="en-US" sz="1600" dirty="0"/>
          </a:p>
        </p:txBody>
      </p:sp>
      <p:sp>
        <p:nvSpPr>
          <p:cNvPr id="11" name="sys1"/>
          <p:cNvSpPr/>
          <p:nvPr/>
        </p:nvSpPr>
        <p:spPr>
          <a:xfrm>
            <a:off x="4343400" y="1691640"/>
            <a:ext cx="3474720" cy="2103120"/>
          </a:xfrm>
          <a:prstGeom prst="roundRect">
            <a:avLst>
              <a:gd name="adj" fmla="val 5217"/>
            </a:avLst>
          </a:prstGeom>
          <a:solidFill>
            <a:srgbClr val="F1F4F7"/>
          </a:solidFill>
          <a:ln w="9525">
            <a:solidFill>
              <a:srgbClr val="DDE3EA"/>
            </a:solidFill>
            <a:prstDash val="solid"/>
          </a:ln>
          <a:effectLst>
            <a:outerShdw sx="100000" sy="100000" kx="0" ky="0" algn="bl" rotWithShape="0" blurRad="101600" dist="25400" dir="5400000">
              <a:srgbClr val="000000">
                <a:alpha val="22000"/>
              </a:srgbClr>
            </a:outerShdw>
          </a:effectLst>
        </p:spPr>
      </p:sp>
      <p:sp>
        <p:nvSpPr>
          <p:cNvPr id="12" name="iconcircle"/>
          <p:cNvSpPr/>
          <p:nvPr/>
        </p:nvSpPr>
        <p:spPr>
          <a:xfrm>
            <a:off x="4572000" y="1874520"/>
            <a:ext cx="548640" cy="548640"/>
          </a:xfrm>
          <a:prstGeom prst="ellipse">
            <a:avLst/>
          </a:prstGeom>
          <a:solidFill>
            <a:srgbClr val="F2A900"/>
          </a:solidFill>
          <a:ln w="6350">
            <a:solidFill>
              <a:srgbClr val="F2A900"/>
            </a:solidFill>
            <a:prstDash val="solid"/>
          </a:ln>
        </p:spPr>
      </p:sp>
      <p:pic>
        <p:nvPicPr>
          <p:cNvPr id="13" name="Image 1" descr="FaWrench">    </p:cNvPr>
          <p:cNvPicPr>
            <a:picLocks noChangeAspect="1"/>
          </p:cNvPicPr>
          <p:nvPr/>
        </p:nvPicPr>
        <p:blipFill>
          <a:blip r:embed="rId2"/>
          <a:stretch>
            <a:fillRect/>
          </a:stretch>
        </p:blipFill>
        <p:spPr>
          <a:xfrm>
            <a:off x="4703674" y="2006194"/>
            <a:ext cx="285293" cy="285293"/>
          </a:xfrm>
          <a:prstGeom prst="rect">
            <a:avLst/>
          </a:prstGeom>
        </p:spPr>
      </p:pic>
      <p:sp>
        <p:nvSpPr>
          <p:cNvPr id="14" name="Text 10"/>
          <p:cNvSpPr txBox="1"/>
          <p:nvPr/>
        </p:nvSpPr>
        <p:spPr>
          <a:xfrm>
            <a:off x="5257800" y="1874520"/>
            <a:ext cx="2377440" cy="548640"/>
          </a:xfrm>
          <a:prstGeom prst="rect">
            <a:avLst/>
          </a:prstGeom>
          <a:noFill/>
          <a:ln/>
        </p:spPr>
        <p:txBody>
          <a:bodyPr wrap="square" lIns="0" tIns="0" rIns="0" bIns="0" rtlCol="0" anchor="ctr"/>
          <a:lstStyle/>
          <a:p>
            <a:pPr indent="0" marL="0">
              <a:buNone/>
            </a:pPr>
            <a:r>
              <a:rPr lang="en-US" sz="1800" b="1" dirty="0">
                <a:solidFill>
                  <a:srgbClr val="0E141B"/>
                </a:solidFill>
                <a:latin typeface="Cambria" pitchFamily="34" charset="0"/>
                <a:ea typeface="Cambria" pitchFamily="34" charset="-122"/>
                <a:cs typeface="Cambria" pitchFamily="34" charset="-120"/>
              </a:rPr>
              <a:t>Workshop notes</a:t>
            </a:r>
            <a:endParaRPr lang="en-US" sz="1800" dirty="0"/>
          </a:p>
        </p:txBody>
      </p:sp>
      <p:sp>
        <p:nvSpPr>
          <p:cNvPr id="15" name="Text 11"/>
          <p:cNvSpPr txBox="1"/>
          <p:nvPr/>
        </p:nvSpPr>
        <p:spPr>
          <a:xfrm>
            <a:off x="4572000" y="2651760"/>
            <a:ext cx="3017520" cy="1051560"/>
          </a:xfrm>
          <a:prstGeom prst="rect">
            <a:avLst/>
          </a:prstGeom>
          <a:noFill/>
          <a:ln/>
        </p:spPr>
        <p:txBody>
          <a:bodyPr wrap="square" lIns="0" tIns="0" rIns="0" bIns="0" rtlCol="0" anchor="t"/>
          <a:lstStyle/>
          <a:p>
            <a:pPr indent="0" marL="0">
              <a:buNone/>
            </a:pPr>
            <a:r>
              <a:rPr lang="en-US" sz="1700" dirty="0">
                <a:solidFill>
                  <a:srgbClr val="0E141B"/>
                </a:solidFill>
                <a:latin typeface="Calibri" pitchFamily="34" charset="0"/>
                <a:ea typeface="Calibri" pitchFamily="34" charset="-122"/>
                <a:cs typeface="Calibri" pitchFamily="34" charset="-120"/>
              </a:rPr>
              <a:t>"Gearbox noise reported" in a notebook, not synced</a:t>
            </a:r>
            <a:endParaRPr lang="en-US" sz="1700" dirty="0"/>
          </a:p>
        </p:txBody>
      </p:sp>
      <p:sp>
        <p:nvSpPr>
          <p:cNvPr id="16" name="gap"/>
          <p:cNvSpPr/>
          <p:nvPr/>
        </p:nvSpPr>
        <p:spPr>
          <a:xfrm>
            <a:off x="7818120" y="2606040"/>
            <a:ext cx="411480" cy="411480"/>
          </a:xfrm>
          <a:prstGeom prst="ellipse">
            <a:avLst/>
          </a:prstGeom>
          <a:solidFill>
            <a:srgbClr val="FFFFFF"/>
          </a:solidFill>
          <a:ln w="19050">
            <a:solidFill>
              <a:srgbClr val="E4572E"/>
            </a:solidFill>
            <a:prstDash val="solid"/>
          </a:ln>
        </p:spPr>
      </p:sp>
      <p:sp>
        <p:nvSpPr>
          <p:cNvPr id="17" name="Text 13"/>
          <p:cNvSpPr txBox="1"/>
          <p:nvPr/>
        </p:nvSpPr>
        <p:spPr>
          <a:xfrm>
            <a:off x="7818120" y="2606040"/>
            <a:ext cx="411480" cy="411480"/>
          </a:xfrm>
          <a:prstGeom prst="rect">
            <a:avLst/>
          </a:prstGeom>
          <a:noFill/>
          <a:ln/>
        </p:spPr>
        <p:txBody>
          <a:bodyPr wrap="square" lIns="0" tIns="0" rIns="0" bIns="0" rtlCol="0" anchor="ctr"/>
          <a:lstStyle/>
          <a:p>
            <a:pPr algn="ctr" indent="0" marL="0">
              <a:buNone/>
            </a:pPr>
            <a:r>
              <a:rPr lang="en-US" sz="1600" b="1" dirty="0">
                <a:solidFill>
                  <a:srgbClr val="E4572E"/>
                </a:solidFill>
                <a:latin typeface="Calibri" pitchFamily="34" charset="0"/>
                <a:ea typeface="Calibri" pitchFamily="34" charset="-122"/>
                <a:cs typeface="Calibri" pitchFamily="34" charset="-120"/>
              </a:rPr>
              <a:t>?</a:t>
            </a:r>
            <a:endParaRPr lang="en-US" sz="1600" dirty="0"/>
          </a:p>
        </p:txBody>
      </p:sp>
      <p:sp>
        <p:nvSpPr>
          <p:cNvPr id="18" name="sys2"/>
          <p:cNvSpPr/>
          <p:nvPr/>
        </p:nvSpPr>
        <p:spPr>
          <a:xfrm>
            <a:off x="8229600" y="1691640"/>
            <a:ext cx="3474720" cy="2103120"/>
          </a:xfrm>
          <a:prstGeom prst="roundRect">
            <a:avLst>
              <a:gd name="adj" fmla="val 5217"/>
            </a:avLst>
          </a:prstGeom>
          <a:solidFill>
            <a:srgbClr val="F1F4F7"/>
          </a:solidFill>
          <a:ln w="9525">
            <a:solidFill>
              <a:srgbClr val="DDE3EA"/>
            </a:solidFill>
            <a:prstDash val="solid"/>
          </a:ln>
          <a:effectLst>
            <a:outerShdw sx="100000" sy="100000" kx="0" ky="0" algn="bl" rotWithShape="0" blurRad="101600" dist="25400" dir="5400000">
              <a:srgbClr val="000000">
                <a:alpha val="22000"/>
              </a:srgbClr>
            </a:outerShdw>
          </a:effectLst>
        </p:spPr>
      </p:sp>
      <p:sp>
        <p:nvSpPr>
          <p:cNvPr id="19" name="iconcircle"/>
          <p:cNvSpPr/>
          <p:nvPr/>
        </p:nvSpPr>
        <p:spPr>
          <a:xfrm>
            <a:off x="8458200" y="1874520"/>
            <a:ext cx="548640" cy="548640"/>
          </a:xfrm>
          <a:prstGeom prst="ellipse">
            <a:avLst/>
          </a:prstGeom>
          <a:solidFill>
            <a:srgbClr val="4A90D9"/>
          </a:solidFill>
          <a:ln w="6350">
            <a:solidFill>
              <a:srgbClr val="4A90D9"/>
            </a:solidFill>
            <a:prstDash val="solid"/>
          </a:ln>
        </p:spPr>
      </p:sp>
      <p:pic>
        <p:nvPicPr>
          <p:cNvPr id="20" name="Image 2" descr="FaRoute">    </p:cNvPr>
          <p:cNvPicPr>
            <a:picLocks noChangeAspect="1"/>
          </p:cNvPicPr>
          <p:nvPr/>
        </p:nvPicPr>
        <p:blipFill>
          <a:blip r:embed="rId3"/>
          <a:stretch>
            <a:fillRect/>
          </a:stretch>
        </p:blipFill>
        <p:spPr>
          <a:xfrm>
            <a:off x="8589874" y="2006194"/>
            <a:ext cx="285293" cy="285293"/>
          </a:xfrm>
          <a:prstGeom prst="rect">
            <a:avLst/>
          </a:prstGeom>
        </p:spPr>
      </p:pic>
      <p:sp>
        <p:nvSpPr>
          <p:cNvPr id="21" name="Text 16"/>
          <p:cNvSpPr txBox="1"/>
          <p:nvPr/>
        </p:nvSpPr>
        <p:spPr>
          <a:xfrm>
            <a:off x="9144000" y="1874520"/>
            <a:ext cx="2377440" cy="548640"/>
          </a:xfrm>
          <a:prstGeom prst="rect">
            <a:avLst/>
          </a:prstGeom>
          <a:noFill/>
          <a:ln/>
        </p:spPr>
        <p:txBody>
          <a:bodyPr wrap="square" lIns="0" tIns="0" rIns="0" bIns="0" rtlCol="0" anchor="ctr"/>
          <a:lstStyle/>
          <a:p>
            <a:pPr indent="0" marL="0">
              <a:buNone/>
            </a:pPr>
            <a:r>
              <a:rPr lang="en-US" sz="1800" b="1" dirty="0">
                <a:solidFill>
                  <a:srgbClr val="0E141B"/>
                </a:solidFill>
                <a:latin typeface="Cambria" pitchFamily="34" charset="0"/>
                <a:ea typeface="Cambria" pitchFamily="34" charset="-122"/>
                <a:cs typeface="Cambria" pitchFamily="34" charset="-120"/>
              </a:rPr>
              <a:t>Dispatch desk</a:t>
            </a:r>
            <a:endParaRPr lang="en-US" sz="1800" dirty="0"/>
          </a:p>
        </p:txBody>
      </p:sp>
      <p:sp>
        <p:nvSpPr>
          <p:cNvPr id="22" name="Text 17"/>
          <p:cNvSpPr txBox="1"/>
          <p:nvPr/>
        </p:nvSpPr>
        <p:spPr>
          <a:xfrm>
            <a:off x="8458200" y="2651760"/>
            <a:ext cx="3017520" cy="1051560"/>
          </a:xfrm>
          <a:prstGeom prst="rect">
            <a:avLst/>
          </a:prstGeom>
          <a:noFill/>
          <a:ln/>
        </p:spPr>
        <p:txBody>
          <a:bodyPr wrap="square" lIns="0" tIns="0" rIns="0" bIns="0" rtlCol="0" anchor="t"/>
          <a:lstStyle/>
          <a:p>
            <a:pPr indent="0" marL="0">
              <a:buNone/>
            </a:pPr>
            <a:r>
              <a:rPr lang="en-US" sz="1700" dirty="0">
                <a:solidFill>
                  <a:srgbClr val="0E141B"/>
                </a:solidFill>
                <a:latin typeface="Calibri" pitchFamily="34" charset="0"/>
                <a:ea typeface="Calibri" pitchFamily="34" charset="-122"/>
                <a:cs typeface="Calibri" pitchFamily="34" charset="-120"/>
              </a:rPr>
              <a:t>Assigns KBZ 123A a 485 km Mombasa - Nairobi run</a:t>
            </a:r>
            <a:endParaRPr lang="en-US" sz="1700" dirty="0"/>
          </a:p>
        </p:txBody>
      </p:sp>
      <p:sp>
        <p:nvSpPr>
          <p:cNvPr id="23" name="gapstat"/>
          <p:cNvSpPr/>
          <p:nvPr/>
        </p:nvSpPr>
        <p:spPr>
          <a:xfrm>
            <a:off x="457200" y="4160520"/>
            <a:ext cx="11274552" cy="2011680"/>
          </a:xfrm>
          <a:prstGeom prst="roundRect">
            <a:avLst>
              <a:gd name="adj" fmla="val 5455"/>
            </a:avLst>
          </a:prstGeom>
          <a:solidFill>
            <a:srgbClr val="0E141B"/>
          </a:solidFill>
          <a:ln w="9525">
            <a:solidFill>
              <a:srgbClr val="0E141B"/>
            </a:solidFill>
            <a:prstDash val="solid"/>
          </a:ln>
          <a:effectLst>
            <a:outerShdw sx="100000" sy="100000" kx="0" ky="0" algn="bl" rotWithShape="0" blurRad="101600" dist="25400" dir="5400000">
              <a:srgbClr val="000000">
                <a:alpha val="22000"/>
              </a:srgbClr>
            </a:outerShdw>
          </a:effectLst>
        </p:spPr>
      </p:sp>
      <p:sp>
        <p:nvSpPr>
          <p:cNvPr id="24" name="Text 19"/>
          <p:cNvSpPr txBox="1"/>
          <p:nvPr/>
        </p:nvSpPr>
        <p:spPr>
          <a:xfrm>
            <a:off x="822960" y="4297680"/>
            <a:ext cx="2377440" cy="1737360"/>
          </a:xfrm>
          <a:prstGeom prst="rect">
            <a:avLst/>
          </a:prstGeom>
          <a:noFill/>
          <a:ln/>
        </p:spPr>
        <p:txBody>
          <a:bodyPr wrap="square" lIns="0" tIns="0" rIns="0" bIns="0" rtlCol="0" anchor="ctr"/>
          <a:lstStyle/>
          <a:p>
            <a:pPr indent="0" marL="0">
              <a:buNone/>
            </a:pPr>
            <a:r>
              <a:rPr lang="en-US" sz="6600" b="1" dirty="0">
                <a:solidFill>
                  <a:srgbClr val="F2A900"/>
                </a:solidFill>
                <a:latin typeface="Cambria" pitchFamily="34" charset="0"/>
                <a:ea typeface="Cambria" pitchFamily="34" charset="-122"/>
                <a:cs typeface="Cambria" pitchFamily="34" charset="-120"/>
              </a:rPr>
              <a:t>101</a:t>
            </a:r>
            <a:endParaRPr lang="en-US" sz="6600" dirty="0"/>
          </a:p>
        </p:txBody>
      </p:sp>
      <p:sp>
        <p:nvSpPr>
          <p:cNvPr id="25" name="Text 20"/>
          <p:cNvSpPr txBox="1"/>
          <p:nvPr/>
        </p:nvSpPr>
        <p:spPr>
          <a:xfrm>
            <a:off x="3291840" y="4297680"/>
            <a:ext cx="8138160" cy="17373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trips were dispatched while the truck had an open Critical or High fault code</a:t>
            </a:r>
            <a:endParaRPr lang="en-US" sz="2000" dirty="0"/>
          </a:p>
          <a:p>
            <a:pPr indent="0" marL="0">
              <a:buNone/>
            </a:pPr>
            <a:r>
              <a:rPr lang="en-US" sz="2000" dirty="0">
                <a:solidFill>
                  <a:srgbClr val="C9D3DE"/>
                </a:solidFill>
                <a:latin typeface="Calibri" pitchFamily="34" charset="0"/>
                <a:ea typeface="Calibri" pitchFamily="34" charset="-122"/>
                <a:cs typeface="Calibri" pitchFamily="34" charset="-120"/>
              </a:rPr>
              <a:t>across 13 trucks in one quarter. The data was in the portal. Nobody acted on it in time.</a:t>
            </a:r>
            <a:endParaRPr lang="en-US" sz="20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300" kern="0" dirty="0">
                <a:solidFill>
                  <a:srgbClr val="2EC4B6"/>
                </a:solidFill>
                <a:latin typeface="Calibri" pitchFamily="34" charset="0"/>
                <a:ea typeface="Calibri" pitchFamily="34" charset="-122"/>
                <a:cs typeface="Calibri" pitchFamily="34" charset="-120"/>
              </a:rPr>
              <a:t>WHERE AI FITS  |  GEMINI</a:t>
            </a:r>
            <a:endParaRPr lang="en-US" sz="1200" dirty="0"/>
          </a:p>
        </p:txBody>
      </p:sp>
      <p:sp>
        <p:nvSpPr>
          <p:cNvPr id="3" name="Text 0"/>
          <p:cNvSpPr/>
          <p:nvPr>
            <p:ph idx="100" type="title" hasCustomPrompt="1"/>
          </p:nvPr>
        </p:nvSpPr>
        <p:spPr>
          <a:xfrm>
            <a:off x="457200" y="566928"/>
            <a:ext cx="11247120" cy="914400"/>
          </a:xfrm>
          <a:prstGeom prst="rect">
            <a:avLst/>
          </a:prstGeom>
          <a:noFill/>
          <a:ln/>
        </p:spPr>
        <p:txBody>
          <a:bodyPr wrap="square" lIns="0" tIns="0" rIns="0" bIns="0" rtlCol="0" anchor="t"/>
          <a:lstStyle/>
          <a:p>
            <a:pPr algn="l" indent="0" marL="0">
              <a:buNone/>
            </a:pPr>
            <a:r>
              <a:rPr lang="en-US" sz="3000" b="1" dirty="0">
                <a:solidFill>
                  <a:srgbClr val="FFFFFF"/>
                </a:solidFill>
                <a:latin typeface="Cambria" pitchFamily="34" charset="0"/>
                <a:ea typeface="Cambria" pitchFamily="34" charset="-122"/>
                <a:cs typeface="Cambria" pitchFamily="34" charset="-120"/>
              </a:rPr>
              <a:t>Alerts nobody can interpret become a clear brief the fleet manager can act on</a:t>
            </a:r>
            <a:endParaRPr lang="en-US" sz="3000" dirty="0"/>
          </a:p>
        </p:txBody>
      </p:sp>
      <p:sp>
        <p:nvSpPr>
          <p:cNvPr id="4" name="rawalert"/>
          <p:cNvSpPr/>
          <p:nvPr/>
        </p:nvSpPr>
        <p:spPr>
          <a:xfrm>
            <a:off x="457200" y="1783080"/>
            <a:ext cx="4114800" cy="4389120"/>
          </a:xfrm>
          <a:prstGeom prst="roundRect">
            <a:avLst>
              <a:gd name="adj" fmla="val 2667"/>
            </a:avLst>
          </a:prstGeom>
          <a:solidFill>
            <a:srgbClr val="121A24"/>
          </a:solidFill>
          <a:ln w="9525">
            <a:solidFill>
              <a:srgbClr val="33465A"/>
            </a:solidFill>
            <a:prstDash val="solid"/>
          </a:ln>
          <a:effectLst>
            <a:outerShdw sx="100000" sy="100000" kx="0" ky="0" algn="bl" rotWithShape="0" blurRad="101600" dist="25400" dir="5400000">
              <a:srgbClr val="000000">
                <a:alpha val="22000"/>
              </a:srgbClr>
            </a:outerShdw>
          </a:effectLst>
        </p:spPr>
      </p:sp>
      <p:sp>
        <p:nvSpPr>
          <p:cNvPr id="5" name="Text 3"/>
          <p:cNvSpPr txBox="1"/>
          <p:nvPr/>
        </p:nvSpPr>
        <p:spPr>
          <a:xfrm>
            <a:off x="731520" y="1920240"/>
            <a:ext cx="3657600" cy="320040"/>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TODAY: A RAW ALERT</a:t>
            </a:r>
            <a:endParaRPr lang="en-US" sz="1200" dirty="0"/>
          </a:p>
        </p:txBody>
      </p:sp>
      <p:sp>
        <p:nvSpPr>
          <p:cNvPr id="6" name="Text 4"/>
          <p:cNvSpPr txBox="1"/>
          <p:nvPr/>
        </p:nvSpPr>
        <p:spPr>
          <a:xfrm>
            <a:off x="731520" y="2331720"/>
            <a:ext cx="3566160" cy="2377440"/>
          </a:xfrm>
          <a:prstGeom prst="rect">
            <a:avLst/>
          </a:prstGeom>
          <a:noFill/>
          <a:ln/>
        </p:spPr>
        <p:txBody>
          <a:bodyPr wrap="square" lIns="0" tIns="0" rIns="0" bIns="0" rtlCol="0" anchor="t"/>
          <a:lstStyle/>
          <a:p>
            <a:pPr indent="0" marL="0">
              <a:spcAft>
                <a:spcPts val="400"/>
              </a:spcAft>
              <a:buNone/>
            </a:pPr>
            <a:r>
              <a:rPr lang="en-US" sz="1500" dirty="0">
                <a:solidFill>
                  <a:srgbClr val="C9D3DE"/>
                </a:solidFill>
                <a:latin typeface="Consolas" pitchFamily="34" charset="0"/>
                <a:ea typeface="Consolas" pitchFamily="34" charset="-122"/>
                <a:cs typeface="Consolas" pitchFamily="34" charset="-120"/>
              </a:rPr>
              <a:t>KBZ 123A</a:t>
            </a:r>
            <a:endParaRPr lang="en-US" sz="1500" dirty="0"/>
          </a:p>
          <a:p>
            <a:pPr indent="0" marL="0">
              <a:spcAft>
                <a:spcPts val="400"/>
              </a:spcAft>
              <a:buNone/>
            </a:pPr>
            <a:r>
              <a:rPr lang="en-US" sz="1500" dirty="0">
                <a:solidFill>
                  <a:srgbClr val="C9D3DE"/>
                </a:solidFill>
                <a:latin typeface="Consolas" pitchFamily="34" charset="0"/>
                <a:ea typeface="Consolas" pitchFamily="34" charset="-122"/>
                <a:cs typeface="Consolas" pitchFamily="34" charset="-120"/>
              </a:rPr>
              <a:t>DTC P0218 | sev HIGH</a:t>
            </a:r>
            <a:endParaRPr lang="en-US" sz="1500" dirty="0"/>
          </a:p>
          <a:p>
            <a:pPr indent="0" marL="0">
              <a:spcAft>
                <a:spcPts val="400"/>
              </a:spcAft>
              <a:buNone/>
            </a:pPr>
            <a:r>
              <a:rPr lang="en-US" sz="1500" dirty="0">
                <a:solidFill>
                  <a:srgbClr val="C9D3DE"/>
                </a:solidFill>
                <a:latin typeface="Consolas" pitchFamily="34" charset="0"/>
                <a:ea typeface="Consolas" pitchFamily="34" charset="-122"/>
                <a:cs typeface="Consolas" pitchFamily="34" charset="-120"/>
              </a:rPr>
              <a:t>TRANS_TEMP_MAX_24H 123</a:t>
            </a:r>
            <a:endParaRPr lang="en-US" sz="1500" dirty="0"/>
          </a:p>
          <a:p>
            <a:pPr indent="0" marL="0">
              <a:spcAft>
                <a:spcPts val="400"/>
              </a:spcAft>
              <a:buNone/>
            </a:pPr>
            <a:r>
              <a:rPr lang="en-US" sz="1500" dirty="0">
                <a:solidFill>
                  <a:srgbClr val="C9D3DE"/>
                </a:solidFill>
                <a:latin typeface="Consolas" pitchFamily="34" charset="0"/>
                <a:ea typeface="Consolas" pitchFamily="34" charset="-122"/>
                <a:cs typeface="Consolas" pitchFamily="34" charset="-120"/>
              </a:rPr>
              <a:t>TRANS_TREND +21</a:t>
            </a:r>
            <a:endParaRPr lang="en-US" sz="1500" dirty="0"/>
          </a:p>
          <a:p>
            <a:pPr indent="0" marL="0">
              <a:spcAft>
                <a:spcPts val="400"/>
              </a:spcAft>
              <a:buNone/>
            </a:pPr>
            <a:r>
              <a:rPr lang="en-US" sz="1500" dirty="0">
                <a:solidFill>
                  <a:srgbClr val="C9D3DE"/>
                </a:solidFill>
                <a:latin typeface="Consolas" pitchFamily="34" charset="0"/>
                <a:ea typeface="Consolas" pitchFamily="34" charset="-122"/>
                <a:cs typeface="Consolas" pitchFamily="34" charset="-120"/>
              </a:rPr>
              <a:t>HEALTH 32 | P48H 0.84</a:t>
            </a:r>
            <a:endParaRPr lang="en-US" sz="1500" dirty="0"/>
          </a:p>
          <a:p>
            <a:pPr indent="0" marL="0">
              <a:spcAft>
                <a:spcPts val="400"/>
              </a:spcAft>
              <a:buNone/>
            </a:pPr>
            <a:r>
              <a:rPr lang="en-US" sz="1500" dirty="0">
                <a:solidFill>
                  <a:srgbClr val="C9D3DE"/>
                </a:solidFill>
                <a:latin typeface="Consolas" pitchFamily="34" charset="0"/>
                <a:ea typeface="Consolas" pitchFamily="34" charset="-122"/>
                <a:cs typeface="Consolas" pitchFamily="34" charset="-120"/>
              </a:rPr>
              <a:t>IMPACT_USD 8404</a:t>
            </a:r>
            <a:endParaRPr lang="en-US" sz="1500" dirty="0"/>
          </a:p>
        </p:txBody>
      </p:sp>
      <p:sp>
        <p:nvSpPr>
          <p:cNvPr id="7" name="Text 5"/>
          <p:cNvSpPr txBox="1"/>
          <p:nvPr/>
        </p:nvSpPr>
        <p:spPr>
          <a:xfrm>
            <a:off x="731520" y="4846320"/>
            <a:ext cx="3566160" cy="1097280"/>
          </a:xfrm>
          <a:prstGeom prst="rect">
            <a:avLst/>
          </a:prstGeom>
          <a:noFill/>
          <a:ln/>
        </p:spPr>
        <p:txBody>
          <a:bodyPr wrap="square" lIns="0" tIns="0" rIns="0" bIns="0" rtlCol="0" anchor="t"/>
          <a:lstStyle/>
          <a:p>
            <a:pPr indent="0" marL="0">
              <a:buNone/>
            </a:pPr>
            <a:r>
              <a:rPr lang="en-US" sz="1400" i="1" dirty="0">
                <a:solidFill>
                  <a:srgbClr val="8FA3B8"/>
                </a:solidFill>
                <a:latin typeface="Calibri" pitchFamily="34" charset="0"/>
                <a:ea typeface="Calibri" pitchFamily="34" charset="-122"/>
                <a:cs typeface="Calibri" pitchFamily="34" charset="-120"/>
              </a:rPr>
              <a:t>Accurate, but it needs an expert to read it, and it arrives with no owner and no next step.</a:t>
            </a:r>
            <a:endParaRPr lang="en-US" sz="1400" dirty="0"/>
          </a:p>
        </p:txBody>
      </p:sp>
      <p:sp>
        <p:nvSpPr>
          <p:cNvPr id="8" name="iconcircle"/>
          <p:cNvSpPr/>
          <p:nvPr/>
        </p:nvSpPr>
        <p:spPr>
          <a:xfrm>
            <a:off x="4754880" y="3474720"/>
            <a:ext cx="548640" cy="548640"/>
          </a:xfrm>
          <a:prstGeom prst="ellipse">
            <a:avLst/>
          </a:prstGeom>
          <a:solidFill>
            <a:srgbClr val="2EC4B6"/>
          </a:solidFill>
          <a:ln w="6350">
            <a:solidFill>
              <a:srgbClr val="2EC4B6"/>
            </a:solidFill>
            <a:prstDash val="solid"/>
          </a:ln>
        </p:spPr>
      </p:sp>
      <p:pic>
        <p:nvPicPr>
          <p:cNvPr id="9" name="Image 0" descr="FaRobot">    </p:cNvPr>
          <p:cNvPicPr>
            <a:picLocks noChangeAspect="1"/>
          </p:cNvPicPr>
          <p:nvPr/>
        </p:nvPicPr>
        <p:blipFill>
          <a:blip r:embed="rId1"/>
          <a:stretch>
            <a:fillRect/>
          </a:stretch>
        </p:blipFill>
        <p:spPr>
          <a:xfrm>
            <a:off x="4886554" y="3606394"/>
            <a:ext cx="285293" cy="285293"/>
          </a:xfrm>
          <a:prstGeom prst="rect">
            <a:avLst/>
          </a:prstGeom>
        </p:spPr>
      </p:pic>
      <p:sp>
        <p:nvSpPr>
          <p:cNvPr id="10" name="Text 7"/>
          <p:cNvSpPr txBox="1"/>
          <p:nvPr/>
        </p:nvSpPr>
        <p:spPr>
          <a:xfrm>
            <a:off x="4480560" y="4069080"/>
            <a:ext cx="1097280" cy="274320"/>
          </a:xfrm>
          <a:prstGeom prst="rect">
            <a:avLst/>
          </a:prstGeom>
          <a:noFill/>
          <a:ln/>
        </p:spPr>
        <p:txBody>
          <a:bodyPr wrap="square" lIns="0" tIns="0" rIns="0" bIns="0" rtlCol="0" anchor="ctr"/>
          <a:lstStyle/>
          <a:p>
            <a:pPr algn="ctr" indent="0" marL="0">
              <a:buNone/>
            </a:pPr>
            <a:r>
              <a:rPr lang="en-US" sz="1200" b="1" dirty="0">
                <a:solidFill>
                  <a:srgbClr val="2EC4B6"/>
                </a:solidFill>
                <a:latin typeface="Calibri" pitchFamily="34" charset="0"/>
                <a:ea typeface="Calibri" pitchFamily="34" charset="-122"/>
                <a:cs typeface="Calibri" pitchFamily="34" charset="-120"/>
              </a:rPr>
              <a:t>Gemini</a:t>
            </a:r>
            <a:endParaRPr lang="en-US" sz="1200" dirty="0"/>
          </a:p>
        </p:txBody>
      </p:sp>
      <p:sp>
        <p:nvSpPr>
          <p:cNvPr id="11" name="emailcard"/>
          <p:cNvSpPr/>
          <p:nvPr/>
        </p:nvSpPr>
        <p:spPr>
          <a:xfrm>
            <a:off x="5760720" y="1783080"/>
            <a:ext cx="5971032" cy="4389120"/>
          </a:xfrm>
          <a:prstGeom prst="roundRect">
            <a:avLst>
              <a:gd name="adj" fmla="val 2500"/>
            </a:avLst>
          </a:prstGeom>
          <a:solidFill>
            <a:srgbClr val="F4F6F8"/>
          </a:solidFill>
          <a:ln w="9525">
            <a:solidFill>
              <a:srgbClr val="F4F6F8"/>
            </a:solidFill>
            <a:prstDash val="solid"/>
          </a:ln>
          <a:effectLst>
            <a:outerShdw sx="100000" sy="100000" kx="0" ky="0" algn="bl" rotWithShape="0" blurRad="101600" dist="25400" dir="5400000">
              <a:srgbClr val="000000">
                <a:alpha val="22000"/>
              </a:srgbClr>
            </a:outerShdw>
          </a:effectLst>
        </p:spPr>
      </p:sp>
      <p:sp>
        <p:nvSpPr>
          <p:cNvPr id="12" name="Text 9"/>
          <p:cNvSpPr txBox="1"/>
          <p:nvPr/>
        </p:nvSpPr>
        <p:spPr>
          <a:xfrm>
            <a:off x="6035040" y="1920240"/>
            <a:ext cx="5486400" cy="320040"/>
          </a:xfrm>
          <a:prstGeom prst="rect">
            <a:avLst/>
          </a:prstGeom>
          <a:noFill/>
          <a:ln/>
        </p:spPr>
        <p:txBody>
          <a:bodyPr wrap="square" lIns="0" tIns="0" rIns="0" bIns="0" rtlCol="0" anchor="ctr"/>
          <a:lstStyle/>
          <a:p>
            <a:pPr indent="0" marL="0">
              <a:buNone/>
            </a:pPr>
            <a:r>
              <a:rPr lang="en-US" sz="1200" b="1" spc="200" kern="0" dirty="0">
                <a:solidFill>
                  <a:srgbClr val="0B7A75"/>
                </a:solidFill>
                <a:latin typeface="Calibri" pitchFamily="34" charset="0"/>
                <a:ea typeface="Calibri" pitchFamily="34" charset="-122"/>
                <a:cs typeface="Calibri" pitchFamily="34" charset="-120"/>
              </a:rPr>
              <a:t>NEXT: THE EMAIL THE FLEET MANAGER RECEIVES</a:t>
            </a:r>
            <a:endParaRPr lang="en-US" sz="1200" dirty="0"/>
          </a:p>
        </p:txBody>
      </p:sp>
      <p:sp>
        <p:nvSpPr>
          <p:cNvPr id="13" name="Text 10"/>
          <p:cNvSpPr txBox="1"/>
          <p:nvPr/>
        </p:nvSpPr>
        <p:spPr>
          <a:xfrm>
            <a:off x="6035040" y="2331720"/>
            <a:ext cx="5486400" cy="256032"/>
          </a:xfrm>
          <a:prstGeom prst="rect">
            <a:avLst/>
          </a:prstGeom>
          <a:noFill/>
          <a:ln/>
        </p:spPr>
        <p:txBody>
          <a:bodyPr wrap="square" lIns="0" tIns="0" rIns="0" bIns="0" rtlCol="0" anchor="ctr"/>
          <a:lstStyle/>
          <a:p>
            <a:pPr indent="0" marL="0">
              <a:buNone/>
            </a:pPr>
            <a:r>
              <a:rPr lang="en-US" sz="1300" b="1" dirty="0">
                <a:solidFill>
                  <a:srgbClr val="0E141B"/>
                </a:solidFill>
                <a:latin typeface="Calibri" pitchFamily="34" charset="0"/>
                <a:ea typeface="Calibri" pitchFamily="34" charset="-122"/>
                <a:cs typeface="Calibri" pitchFamily="34" charset="-120"/>
              </a:rPr>
              <a:t>Risk</a:t>
            </a:r>
            <a:endParaRPr lang="en-US" sz="1300" dirty="0"/>
          </a:p>
        </p:txBody>
      </p:sp>
      <p:sp>
        <p:nvSpPr>
          <p:cNvPr id="14" name="Text 11"/>
          <p:cNvSpPr txBox="1"/>
          <p:nvPr/>
        </p:nvSpPr>
        <p:spPr>
          <a:xfrm>
            <a:off x="6035040" y="2587752"/>
            <a:ext cx="5440680" cy="640080"/>
          </a:xfrm>
          <a:prstGeom prst="rect">
            <a:avLst/>
          </a:prstGeom>
          <a:noFill/>
          <a:ln/>
        </p:spPr>
        <p:txBody>
          <a:bodyPr wrap="square" lIns="0" tIns="0" rIns="0" bIns="0" rtlCol="0" anchor="t"/>
          <a:lstStyle/>
          <a:p>
            <a:pPr indent="0" marL="0">
              <a:buNone/>
            </a:pPr>
            <a:r>
              <a:rPr lang="en-US" sz="1250" dirty="0">
                <a:solidFill>
                  <a:srgbClr val="3C4753"/>
                </a:solidFill>
                <a:latin typeface="Calibri" pitchFamily="34" charset="0"/>
                <a:ea typeface="Calibri" pitchFamily="34" charset="-122"/>
                <a:cs typeface="Calibri" pitchFamily="34" charset="-120"/>
              </a:rPr>
              <a:t>Transmission fault developing on KBZ 123A, with a high chance of breakdown within 48 hours.</a:t>
            </a:r>
            <a:endParaRPr lang="en-US" sz="1250" dirty="0"/>
          </a:p>
        </p:txBody>
      </p:sp>
      <p:sp>
        <p:nvSpPr>
          <p:cNvPr id="15" name="Text 12"/>
          <p:cNvSpPr txBox="1"/>
          <p:nvPr/>
        </p:nvSpPr>
        <p:spPr>
          <a:xfrm>
            <a:off x="6035040" y="3273552"/>
            <a:ext cx="5486400" cy="256032"/>
          </a:xfrm>
          <a:prstGeom prst="rect">
            <a:avLst/>
          </a:prstGeom>
          <a:noFill/>
          <a:ln/>
        </p:spPr>
        <p:txBody>
          <a:bodyPr wrap="square" lIns="0" tIns="0" rIns="0" bIns="0" rtlCol="0" anchor="ctr"/>
          <a:lstStyle/>
          <a:p>
            <a:pPr indent="0" marL="0">
              <a:buNone/>
            </a:pPr>
            <a:r>
              <a:rPr lang="en-US" sz="1300" b="1" dirty="0">
                <a:solidFill>
                  <a:srgbClr val="0E141B"/>
                </a:solidFill>
                <a:latin typeface="Calibri" pitchFamily="34" charset="0"/>
                <a:ea typeface="Calibri" pitchFamily="34" charset="-122"/>
                <a:cs typeface="Calibri" pitchFamily="34" charset="-120"/>
              </a:rPr>
              <a:t>Evidence</a:t>
            </a:r>
            <a:endParaRPr lang="en-US" sz="1300" dirty="0"/>
          </a:p>
        </p:txBody>
      </p:sp>
      <p:sp>
        <p:nvSpPr>
          <p:cNvPr id="16" name="Text 13"/>
          <p:cNvSpPr txBox="1"/>
          <p:nvPr/>
        </p:nvSpPr>
        <p:spPr>
          <a:xfrm>
            <a:off x="6035040" y="3529584"/>
            <a:ext cx="5440680" cy="640080"/>
          </a:xfrm>
          <a:prstGeom prst="rect">
            <a:avLst/>
          </a:prstGeom>
          <a:noFill/>
          <a:ln/>
        </p:spPr>
        <p:txBody>
          <a:bodyPr wrap="square" lIns="0" tIns="0" rIns="0" bIns="0" rtlCol="0" anchor="t"/>
          <a:lstStyle/>
          <a:p>
            <a:pPr indent="0" marL="0">
              <a:buNone/>
            </a:pPr>
            <a:r>
              <a:rPr lang="en-US" sz="1250" dirty="0">
                <a:solidFill>
                  <a:srgbClr val="3C4753"/>
                </a:solidFill>
                <a:latin typeface="Calibri" pitchFamily="34" charset="0"/>
                <a:ea typeface="Calibri" pitchFamily="34" charset="-122"/>
                <a:cs typeface="Calibri" pitchFamily="34" charset="-120"/>
              </a:rPr>
              <a:t>Open code P0218, gearbox temperature up 21 C versus the prior 48 hours, health score 32 of 100, 84% breakdown probability.</a:t>
            </a:r>
            <a:endParaRPr lang="en-US" sz="1250" dirty="0"/>
          </a:p>
        </p:txBody>
      </p:sp>
      <p:sp>
        <p:nvSpPr>
          <p:cNvPr id="17" name="Text 14"/>
          <p:cNvSpPr txBox="1"/>
          <p:nvPr/>
        </p:nvSpPr>
        <p:spPr>
          <a:xfrm>
            <a:off x="6035040" y="4215384"/>
            <a:ext cx="5486400" cy="256032"/>
          </a:xfrm>
          <a:prstGeom prst="rect">
            <a:avLst/>
          </a:prstGeom>
          <a:noFill/>
          <a:ln/>
        </p:spPr>
        <p:txBody>
          <a:bodyPr wrap="square" lIns="0" tIns="0" rIns="0" bIns="0" rtlCol="0" anchor="ctr"/>
          <a:lstStyle/>
          <a:p>
            <a:pPr indent="0" marL="0">
              <a:buNone/>
            </a:pPr>
            <a:r>
              <a:rPr lang="en-US" sz="1300" b="1" dirty="0">
                <a:solidFill>
                  <a:srgbClr val="0E141B"/>
                </a:solidFill>
                <a:latin typeface="Calibri" pitchFamily="34" charset="0"/>
                <a:ea typeface="Calibri" pitchFamily="34" charset="-122"/>
                <a:cs typeface="Calibri" pitchFamily="34" charset="-120"/>
              </a:rPr>
              <a:t>Potential impact</a:t>
            </a:r>
            <a:endParaRPr lang="en-US" sz="1300" dirty="0"/>
          </a:p>
        </p:txBody>
      </p:sp>
      <p:sp>
        <p:nvSpPr>
          <p:cNvPr id="18" name="Text 15"/>
          <p:cNvSpPr txBox="1"/>
          <p:nvPr/>
        </p:nvSpPr>
        <p:spPr>
          <a:xfrm>
            <a:off x="6035040" y="4471416"/>
            <a:ext cx="5440680" cy="640080"/>
          </a:xfrm>
          <a:prstGeom prst="rect">
            <a:avLst/>
          </a:prstGeom>
          <a:noFill/>
          <a:ln/>
        </p:spPr>
        <p:txBody>
          <a:bodyPr wrap="square" lIns="0" tIns="0" rIns="0" bIns="0" rtlCol="0" anchor="t"/>
          <a:lstStyle/>
          <a:p>
            <a:pPr indent="0" marL="0">
              <a:buNone/>
            </a:pPr>
            <a:r>
              <a:rPr lang="en-US" sz="1250" dirty="0">
                <a:solidFill>
                  <a:srgbClr val="3C4753"/>
                </a:solidFill>
                <a:latin typeface="Calibri" pitchFamily="34" charset="0"/>
                <a:ea typeface="Calibri" pitchFamily="34" charset="-122"/>
                <a:cs typeface="Calibri" pitchFamily="34" charset="-120"/>
              </a:rPr>
              <a:t>About $8,404 in emergency repair and SLA penalties if it fails on the road.</a:t>
            </a:r>
            <a:endParaRPr lang="en-US" sz="1250" dirty="0"/>
          </a:p>
        </p:txBody>
      </p:sp>
      <p:sp>
        <p:nvSpPr>
          <p:cNvPr id="19" name="Text 16"/>
          <p:cNvSpPr txBox="1"/>
          <p:nvPr/>
        </p:nvSpPr>
        <p:spPr>
          <a:xfrm>
            <a:off x="6035040" y="5157216"/>
            <a:ext cx="5486400" cy="256032"/>
          </a:xfrm>
          <a:prstGeom prst="rect">
            <a:avLst/>
          </a:prstGeom>
          <a:noFill/>
          <a:ln/>
        </p:spPr>
        <p:txBody>
          <a:bodyPr wrap="square" lIns="0" tIns="0" rIns="0" bIns="0" rtlCol="0" anchor="ctr"/>
          <a:lstStyle/>
          <a:p>
            <a:pPr indent="0" marL="0">
              <a:buNone/>
            </a:pPr>
            <a:r>
              <a:rPr lang="en-US" sz="1300" b="1" dirty="0">
                <a:solidFill>
                  <a:srgbClr val="0E141B"/>
                </a:solidFill>
                <a:latin typeface="Calibri" pitchFamily="34" charset="0"/>
                <a:ea typeface="Calibri" pitchFamily="34" charset="-122"/>
                <a:cs typeface="Calibri" pitchFamily="34" charset="-120"/>
              </a:rPr>
              <a:t>Recommended investigation</a:t>
            </a:r>
            <a:endParaRPr lang="en-US" sz="1300" dirty="0"/>
          </a:p>
        </p:txBody>
      </p:sp>
      <p:sp>
        <p:nvSpPr>
          <p:cNvPr id="20" name="Text 17"/>
          <p:cNvSpPr txBox="1"/>
          <p:nvPr/>
        </p:nvSpPr>
        <p:spPr>
          <a:xfrm>
            <a:off x="6035040" y="5413248"/>
            <a:ext cx="5440680" cy="640080"/>
          </a:xfrm>
          <a:prstGeom prst="rect">
            <a:avLst/>
          </a:prstGeom>
          <a:noFill/>
          <a:ln/>
        </p:spPr>
        <p:txBody>
          <a:bodyPr wrap="square" lIns="0" tIns="0" rIns="0" bIns="0" rtlCol="0" anchor="t"/>
          <a:lstStyle/>
          <a:p>
            <a:pPr indent="0" marL="0">
              <a:buNone/>
            </a:pPr>
            <a:r>
              <a:rPr lang="en-US" sz="1250" dirty="0">
                <a:solidFill>
                  <a:srgbClr val="3C4753"/>
                </a:solidFill>
                <a:latin typeface="Calibri" pitchFamily="34" charset="0"/>
                <a:ea typeface="Calibri" pitchFamily="34" charset="-122"/>
                <a:cs typeface="Calibri" pitchFamily="34" charset="-120"/>
              </a:rPr>
              <a:t>Hold dispatch. Check gearbox oil level and temperature, scan the transmission controller, inspect the clutch, then confirm clearance.</a:t>
            </a:r>
            <a:endParaRPr lang="en-US" sz="1250" dirty="0"/>
          </a:p>
        </p:txBody>
      </p:sp>
      <p:sp>
        <p:nvSpPr>
          <p:cNvPr id="21" name="Text 18"/>
          <p:cNvSpPr txBox="1"/>
          <p:nvPr/>
        </p:nvSpPr>
        <p:spPr>
          <a:xfrm>
            <a:off x="5760720" y="6199632"/>
            <a:ext cx="5943600" cy="228600"/>
          </a:xfrm>
          <a:prstGeom prst="rect">
            <a:avLst/>
          </a:prstGeom>
          <a:noFill/>
          <a:ln/>
        </p:spPr>
        <p:txBody>
          <a:bodyPr wrap="square" lIns="0" tIns="0" rIns="0" bIns="0" rtlCol="0" anchor="ctr"/>
          <a:lstStyle/>
          <a:p>
            <a:pPr indent="0" marL="0">
              <a:buNone/>
            </a:pPr>
            <a:r>
              <a:rPr lang="en-US" sz="1000" i="1" dirty="0">
                <a:solidFill>
                  <a:srgbClr val="8FA3B8"/>
                </a:solidFill>
                <a:latin typeface="Calibri" pitchFamily="34" charset="0"/>
                <a:ea typeface="Calibri" pitchFamily="34" charset="-122"/>
                <a:cs typeface="Calibri" pitchFamily="34" charset="-120"/>
              </a:rPr>
              <a:t>Illustrative output. Gemini receives only rule-generated evidence, and a person verifies before acting.</a:t>
            </a:r>
            <a:endParaRPr lang="en-US" sz="10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300" kern="0" dirty="0">
                <a:solidFill>
                  <a:srgbClr val="F2A900"/>
                </a:solidFill>
                <a:latin typeface="Calibri" pitchFamily="34" charset="0"/>
                <a:ea typeface="Calibri" pitchFamily="34" charset="-122"/>
                <a:cs typeface="Calibri" pitchFamily="34" charset="-120"/>
              </a:rPr>
              <a:t>OBJECTIVES AND TARGET KPIs</a:t>
            </a:r>
            <a:endParaRPr lang="en-US" sz="1200" dirty="0"/>
          </a:p>
        </p:txBody>
      </p:sp>
      <p:sp>
        <p:nvSpPr>
          <p:cNvPr id="3" name="Text 0"/>
          <p:cNvSpPr/>
          <p:nvPr>
            <p:ph idx="100" type="title" hasCustomPrompt="1"/>
          </p:nvPr>
        </p:nvSpPr>
        <p:spPr>
          <a:xfrm>
            <a:off x="457200" y="566928"/>
            <a:ext cx="11247120" cy="914400"/>
          </a:xfrm>
          <a:prstGeom prst="rect">
            <a:avLst/>
          </a:prstGeom>
          <a:noFill/>
          <a:ln/>
        </p:spPr>
        <p:txBody>
          <a:bodyPr wrap="square" lIns="0" tIns="0" rIns="0" bIns="0" rtlCol="0" anchor="t"/>
          <a:lstStyle/>
          <a:p>
            <a:pPr algn="l" indent="0" marL="0">
              <a:buNone/>
            </a:pPr>
            <a:r>
              <a:rPr lang="en-US" sz="3000" b="1" dirty="0">
                <a:solidFill>
                  <a:srgbClr val="0E141B"/>
                </a:solidFill>
                <a:latin typeface="Cambria" pitchFamily="34" charset="0"/>
                <a:ea typeface="Cambria" pitchFamily="34" charset="-122"/>
                <a:cs typeface="Cambria" pitchFamily="34" charset="-120"/>
              </a:rPr>
              <a:t>What the Fleet Risk Command Centre must change</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3566160"/>
                <a:gridCol w="4754880"/>
                <a:gridCol w="2953512"/>
              </a:tblGrid>
              <a:tr h="493776">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Objective</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E141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KPI</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E141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Target</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E141B"/>
                    </a:solidFill>
                  </a:tcPr>
                </a:tc>
              </a:tr>
              <a:tr h="493776">
                <a:tc>
                  <a:txBody>
                    <a:bodyPr/>
                    <a:lstStyle/>
                    <a:p>
                      <a:pPr indent="0" marL="0">
                        <a:buNone/>
                      </a:pPr>
                      <a:r>
                        <a:rPr lang="en-US" sz="1400" b="1" dirty="0">
                          <a:solidFill>
                            <a:srgbClr val="0E141B"/>
                          </a:solidFill>
                          <a:latin typeface="Calibri" pitchFamily="34" charset="0"/>
                          <a:ea typeface="Calibri" pitchFamily="34" charset="-122"/>
                          <a:cs typeface="Calibri" pitchFamily="34" charset="-120"/>
                        </a:rPr>
                        <a:t>Cut unplanned breakdowns</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1F4F7"/>
                    </a:solidFill>
                  </a:tcPr>
                </a:tc>
                <a:tc>
                  <a:txBody>
                    <a:bodyPr/>
                    <a:lstStyle/>
                    <a:p>
                      <a:pPr indent="0" marL="0">
                        <a:buNone/>
                      </a:pPr>
                      <a:r>
                        <a:rPr lang="en-US" sz="1400" dirty="0">
                          <a:solidFill>
                            <a:srgbClr val="0E141B"/>
                          </a:solidFill>
                          <a:latin typeface="Calibri" pitchFamily="34" charset="0"/>
                          <a:ea typeface="Calibri" pitchFamily="34" charset="-122"/>
                          <a:cs typeface="Calibri" pitchFamily="34" charset="-120"/>
                        </a:rPr>
                        <a:t>Breakdowns per 1,000 trips</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1F4F7"/>
                    </a:solidFill>
                  </a:tcPr>
                </a:tc>
                <a:tc>
                  <a:txBody>
                    <a:bodyPr/>
                    <a:lstStyle/>
                    <a:p>
                      <a:pPr indent="0" marL="0">
                        <a:buNone/>
                      </a:pPr>
                      <a:r>
                        <a:rPr lang="en-US" sz="1400" b="1" dirty="0">
                          <a:solidFill>
                            <a:srgbClr val="8A5A00"/>
                          </a:solidFill>
                          <a:latin typeface="Calibri" pitchFamily="34" charset="0"/>
                          <a:ea typeface="Calibri" pitchFamily="34" charset="-122"/>
                          <a:cs typeface="Calibri" pitchFamily="34" charset="-120"/>
                        </a:rPr>
                        <a:t>-50% in 6 months</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1F4F7"/>
                    </a:solidFill>
                  </a:tcPr>
                </a:tc>
              </a:tr>
              <a:tr h="493776">
                <a:tc>
                  <a:txBody>
                    <a:bodyPr/>
                    <a:lstStyle/>
                    <a:p>
                      <a:pPr indent="0" marL="0">
                        <a:buNone/>
                      </a:pPr>
                      <a:r>
                        <a:rPr lang="en-US" sz="1400" b="1" dirty="0">
                          <a:solidFill>
                            <a:srgbClr val="0E141B"/>
                          </a:solidFill>
                          <a:latin typeface="Calibri" pitchFamily="34" charset="0"/>
                          <a:ea typeface="Calibri" pitchFamily="34" charset="-122"/>
                          <a:cs typeface="Calibri" pitchFamily="34" charset="-120"/>
                        </a:rPr>
                        <a:t>Cut SLA penalties</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400" dirty="0">
                          <a:solidFill>
                            <a:srgbClr val="0E141B"/>
                          </a:solidFill>
                          <a:latin typeface="Calibri" pitchFamily="34" charset="0"/>
                          <a:ea typeface="Calibri" pitchFamily="34" charset="-122"/>
                          <a:cs typeface="Calibri" pitchFamily="34" charset="-120"/>
                        </a:rPr>
                        <a:t>SLA penalties, USD per month</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400" b="1" dirty="0">
                          <a:solidFill>
                            <a:srgbClr val="8A5A00"/>
                          </a:solidFill>
                          <a:latin typeface="Calibri" pitchFamily="34" charset="0"/>
                          <a:ea typeface="Calibri" pitchFamily="34" charset="-122"/>
                          <a:cs typeface="Calibri" pitchFamily="34" charset="-120"/>
                        </a:rPr>
                        <a:t>-40%</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493776">
                <a:tc>
                  <a:txBody>
                    <a:bodyPr/>
                    <a:lstStyle/>
                    <a:p>
                      <a:pPr indent="0" marL="0">
                        <a:buNone/>
                      </a:pPr>
                      <a:r>
                        <a:rPr lang="en-US" sz="1400" b="1" dirty="0">
                          <a:solidFill>
                            <a:srgbClr val="0E141B"/>
                          </a:solidFill>
                          <a:latin typeface="Calibri" pitchFamily="34" charset="0"/>
                          <a:ea typeface="Calibri" pitchFamily="34" charset="-122"/>
                          <a:cs typeface="Calibri" pitchFamily="34" charset="-120"/>
                        </a:rPr>
                        <a:t>Stop dispatch of faulty trucks</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1F4F7"/>
                    </a:solidFill>
                  </a:tcPr>
                </a:tc>
                <a:tc>
                  <a:txBody>
                    <a:bodyPr/>
                    <a:lstStyle/>
                    <a:p>
                      <a:pPr indent="0" marL="0">
                        <a:buNone/>
                      </a:pPr>
                      <a:r>
                        <a:rPr lang="en-US" sz="1400" dirty="0">
                          <a:solidFill>
                            <a:srgbClr val="0E141B"/>
                          </a:solidFill>
                          <a:latin typeface="Calibri" pitchFamily="34" charset="0"/>
                          <a:ea typeface="Calibri" pitchFamily="34" charset="-122"/>
                          <a:cs typeface="Calibri" pitchFamily="34" charset="-120"/>
                        </a:rPr>
                        <a:t>Dispatches with an open Critical or High fault</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1F4F7"/>
                    </a:solidFill>
                  </a:tcPr>
                </a:tc>
                <a:tc>
                  <a:txBody>
                    <a:bodyPr/>
                    <a:lstStyle/>
                    <a:p>
                      <a:pPr indent="0" marL="0">
                        <a:buNone/>
                      </a:pPr>
                      <a:r>
                        <a:rPr lang="en-US" sz="1400" b="1" dirty="0">
                          <a:solidFill>
                            <a:srgbClr val="8A5A00"/>
                          </a:solidFill>
                          <a:latin typeface="Calibri" pitchFamily="34" charset="0"/>
                          <a:ea typeface="Calibri" pitchFamily="34" charset="-122"/>
                          <a:cs typeface="Calibri" pitchFamily="34" charset="-120"/>
                        </a:rPr>
                        <a:t>Zero Critical, under 2% High</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1F4F7"/>
                    </a:solidFill>
                  </a:tcPr>
                </a:tc>
              </a:tr>
              <a:tr h="493776">
                <a:tc>
                  <a:txBody>
                    <a:bodyPr/>
                    <a:lstStyle/>
                    <a:p>
                      <a:pPr indent="0" marL="0">
                        <a:buNone/>
                      </a:pPr>
                      <a:r>
                        <a:rPr lang="en-US" sz="1400" b="1" dirty="0">
                          <a:solidFill>
                            <a:srgbClr val="0E141B"/>
                          </a:solidFill>
                          <a:latin typeface="Calibri" pitchFamily="34" charset="0"/>
                          <a:ea typeface="Calibri" pitchFamily="34" charset="-122"/>
                          <a:cs typeface="Calibri" pitchFamily="34" charset="-120"/>
                        </a:rPr>
                        <a:t>Shift repairs to planned work</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400" dirty="0">
                          <a:solidFill>
                            <a:srgbClr val="0E141B"/>
                          </a:solidFill>
                          <a:latin typeface="Calibri" pitchFamily="34" charset="0"/>
                          <a:ea typeface="Calibri" pitchFamily="34" charset="-122"/>
                          <a:cs typeface="Calibri" pitchFamily="34" charset="-120"/>
                        </a:rPr>
                        <a:t>Emergency share of maintenance cost</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400" b="1" dirty="0">
                          <a:solidFill>
                            <a:srgbClr val="8A5A00"/>
                          </a:solidFill>
                          <a:latin typeface="Calibri" pitchFamily="34" charset="0"/>
                          <a:ea typeface="Calibri" pitchFamily="34" charset="-122"/>
                          <a:cs typeface="Calibri" pitchFamily="34" charset="-120"/>
                        </a:rPr>
                        <a:t>Under 20%</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493776">
                <a:tc>
                  <a:txBody>
                    <a:bodyPr/>
                    <a:lstStyle/>
                    <a:p>
                      <a:pPr indent="0" marL="0">
                        <a:buNone/>
                      </a:pPr>
                      <a:r>
                        <a:rPr lang="en-US" sz="1400" b="1" dirty="0">
                          <a:solidFill>
                            <a:srgbClr val="0E141B"/>
                          </a:solidFill>
                          <a:latin typeface="Calibri" pitchFamily="34" charset="0"/>
                          <a:ea typeface="Calibri" pitchFamily="34" charset="-122"/>
                          <a:cs typeface="Calibri" pitchFamily="34" charset="-120"/>
                        </a:rPr>
                        <a:t>Reduce fuel leakage</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1F4F7"/>
                    </a:solidFill>
                  </a:tcPr>
                </a:tc>
                <a:tc>
                  <a:txBody>
                    <a:bodyPr/>
                    <a:lstStyle/>
                    <a:p>
                      <a:pPr indent="0" marL="0">
                        <a:buNone/>
                      </a:pPr>
                      <a:r>
                        <a:rPr lang="en-US" sz="1400" dirty="0">
                          <a:solidFill>
                            <a:srgbClr val="0E141B"/>
                          </a:solidFill>
                          <a:latin typeface="Calibri" pitchFamily="34" charset="0"/>
                          <a:ea typeface="Calibri" pitchFamily="34" charset="-122"/>
                          <a:cs typeface="Calibri" pitchFamily="34" charset="-120"/>
                        </a:rPr>
                        <a:t>Siphoning, over-billing and excess burn as % of fuel spend</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1F4F7"/>
                    </a:solidFill>
                  </a:tcPr>
                </a:tc>
                <a:tc>
                  <a:txBody>
                    <a:bodyPr/>
                    <a:lstStyle/>
                    <a:p>
                      <a:pPr indent="0" marL="0">
                        <a:buNone/>
                      </a:pPr>
                      <a:r>
                        <a:rPr lang="en-US" sz="1400" b="1" dirty="0">
                          <a:solidFill>
                            <a:srgbClr val="8A5A00"/>
                          </a:solidFill>
                          <a:latin typeface="Calibri" pitchFamily="34" charset="0"/>
                          <a:ea typeface="Calibri" pitchFamily="34" charset="-122"/>
                          <a:cs typeface="Calibri" pitchFamily="34" charset="-120"/>
                        </a:rPr>
                        <a:t>Under 1%</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1F4F7"/>
                    </a:solidFill>
                  </a:tcPr>
                </a:tc>
              </a:tr>
              <a:tr h="493776">
                <a:tc>
                  <a:txBody>
                    <a:bodyPr/>
                    <a:lstStyle/>
                    <a:p>
                      <a:pPr indent="0" marL="0">
                        <a:buNone/>
                      </a:pPr>
                      <a:r>
                        <a:rPr lang="en-US" sz="1400" b="1" dirty="0">
                          <a:solidFill>
                            <a:srgbClr val="0E141B"/>
                          </a:solidFill>
                          <a:latin typeface="Calibri" pitchFamily="34" charset="0"/>
                          <a:ea typeface="Calibri" pitchFamily="34" charset="-122"/>
                          <a:cs typeface="Calibri" pitchFamily="34" charset="-120"/>
                        </a:rPr>
                        <a:t>Detect fuel theft fast</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400" dirty="0">
                          <a:solidFill>
                            <a:srgbClr val="0E141B"/>
                          </a:solidFill>
                          <a:latin typeface="Calibri" pitchFamily="34" charset="0"/>
                          <a:ea typeface="Calibri" pitchFamily="34" charset="-122"/>
                          <a:cs typeface="Calibri" pitchFamily="34" charset="-120"/>
                        </a:rPr>
                        <a:t>Time from event to alert</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400" b="1" dirty="0">
                          <a:solidFill>
                            <a:srgbClr val="8A5A00"/>
                          </a:solidFill>
                          <a:latin typeface="Calibri" pitchFamily="34" charset="0"/>
                          <a:ea typeface="Calibri" pitchFamily="34" charset="-122"/>
                          <a:cs typeface="Calibri" pitchFamily="34" charset="-120"/>
                        </a:rPr>
                        <a:t>Under 1 hour (today about 3 weeks)</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493776">
                <a:tc>
                  <a:txBody>
                    <a:bodyPr/>
                    <a:lstStyle/>
                    <a:p>
                      <a:pPr indent="0" marL="0">
                        <a:buNone/>
                      </a:pPr>
                      <a:r>
                        <a:rPr lang="en-US" sz="1400" b="1" dirty="0">
                          <a:solidFill>
                            <a:srgbClr val="0E141B"/>
                          </a:solidFill>
                          <a:latin typeface="Calibri" pitchFamily="34" charset="0"/>
                          <a:ea typeface="Calibri" pitchFamily="34" charset="-122"/>
                          <a:cs typeface="Calibri" pitchFamily="34" charset="-120"/>
                        </a:rPr>
                        <a:t>Faster, consistent investigation</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1F4F7"/>
                    </a:solidFill>
                  </a:tcPr>
                </a:tc>
                <a:tc>
                  <a:txBody>
                    <a:bodyPr/>
                    <a:lstStyle/>
                    <a:p>
                      <a:pPr indent="0" marL="0">
                        <a:buNone/>
                      </a:pPr>
                      <a:r>
                        <a:rPr lang="en-US" sz="1400" dirty="0">
                          <a:solidFill>
                            <a:srgbClr val="0E141B"/>
                          </a:solidFill>
                          <a:latin typeface="Calibri" pitchFamily="34" charset="0"/>
                          <a:ea typeface="Calibri" pitchFamily="34" charset="-122"/>
                          <a:cs typeface="Calibri" pitchFamily="34" charset="-120"/>
                        </a:rPr>
                        <a:t>Alert to recorded decision</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1F4F7"/>
                    </a:solidFill>
                  </a:tcPr>
                </a:tc>
                <a:tc>
                  <a:txBody>
                    <a:bodyPr/>
                    <a:lstStyle/>
                    <a:p>
                      <a:pPr indent="0" marL="0">
                        <a:buNone/>
                      </a:pPr>
                      <a:r>
                        <a:rPr lang="en-US" sz="1400" b="1" dirty="0">
                          <a:solidFill>
                            <a:srgbClr val="8A5A00"/>
                          </a:solidFill>
                          <a:latin typeface="Calibri" pitchFamily="34" charset="0"/>
                          <a:ea typeface="Calibri" pitchFamily="34" charset="-122"/>
                          <a:cs typeface="Calibri" pitchFamily="34" charset="-120"/>
                        </a:rPr>
                        <a:t>Under 4 hours for Critical</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1F4F7"/>
                    </a:solidFill>
                  </a:tcPr>
                </a:tc>
              </a:tr>
              <a:tr h="493776">
                <a:tc>
                  <a:txBody>
                    <a:bodyPr/>
                    <a:lstStyle/>
                    <a:p>
                      <a:pPr indent="0" marL="0">
                        <a:buNone/>
                      </a:pPr>
                      <a:r>
                        <a:rPr lang="en-US" sz="1400" b="1" dirty="0">
                          <a:solidFill>
                            <a:srgbClr val="0E141B"/>
                          </a:solidFill>
                          <a:latin typeface="Calibri" pitchFamily="34" charset="0"/>
                          <a:ea typeface="Calibri" pitchFamily="34" charset="-122"/>
                          <a:cs typeface="Calibri" pitchFamily="34" charset="-120"/>
                        </a:rPr>
                        <a:t>Close the loop</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400" dirty="0">
                          <a:solidFill>
                            <a:srgbClr val="0E141B"/>
                          </a:solidFill>
                          <a:latin typeface="Calibri" pitchFamily="34" charset="0"/>
                          <a:ea typeface="Calibri" pitchFamily="34" charset="-122"/>
                          <a:cs typeface="Calibri" pitchFamily="34" charset="-120"/>
                        </a:rPr>
                        <a:t>Alerts with a recorded outcome</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400" b="1" dirty="0">
                          <a:solidFill>
                            <a:srgbClr val="8A5A00"/>
                          </a:solidFill>
                          <a:latin typeface="Calibri" pitchFamily="34" charset="0"/>
                          <a:ea typeface="Calibri" pitchFamily="34" charset="-122"/>
                          <a:cs typeface="Calibri" pitchFamily="34" charset="-120"/>
                        </a:rPr>
                        <a:t>Over 95%</a:t>
                      </a:r>
                      <a:endParaRPr lang="en-US" sz="14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300" kern="0" dirty="0">
                <a:solidFill>
                  <a:srgbClr val="2EC4B6"/>
                </a:solidFill>
                <a:latin typeface="Calibri" pitchFamily="34" charset="0"/>
                <a:ea typeface="Calibri" pitchFamily="34" charset="-122"/>
                <a:cs typeface="Calibri" pitchFamily="34" charset="-120"/>
              </a:rPr>
              <a:t>SCOPE AND GUARDRAILS</a:t>
            </a:r>
            <a:endParaRPr lang="en-US" sz="1200" dirty="0"/>
          </a:p>
        </p:txBody>
      </p:sp>
      <p:sp>
        <p:nvSpPr>
          <p:cNvPr id="3" name="Text 0"/>
          <p:cNvSpPr/>
          <p:nvPr>
            <p:ph idx="100" type="title" hasCustomPrompt="1"/>
          </p:nvPr>
        </p:nvSpPr>
        <p:spPr>
          <a:xfrm>
            <a:off x="457200" y="566928"/>
            <a:ext cx="11247120" cy="914400"/>
          </a:xfrm>
          <a:prstGeom prst="rect">
            <a:avLst/>
          </a:prstGeom>
          <a:noFill/>
          <a:ln/>
        </p:spPr>
        <p:txBody>
          <a:bodyPr wrap="square" lIns="0" tIns="0" rIns="0" bIns="0" rtlCol="0" anchor="t"/>
          <a:lstStyle/>
          <a:p>
            <a:pPr algn="l" indent="0" marL="0">
              <a:buNone/>
            </a:pPr>
            <a:r>
              <a:rPr lang="en-US" sz="3000" b="1" dirty="0">
                <a:solidFill>
                  <a:srgbClr val="0E141B"/>
                </a:solidFill>
                <a:latin typeface="Cambria" pitchFamily="34" charset="0"/>
                <a:ea typeface="Cambria" pitchFamily="34" charset="-122"/>
                <a:cs typeface="Cambria" pitchFamily="34" charset="-120"/>
              </a:rPr>
              <a:t>Rules detect, AI explains, people decide</a:t>
            </a:r>
            <a:endParaRPr lang="en-US" sz="3000" dirty="0"/>
          </a:p>
        </p:txBody>
      </p:sp>
      <p:sp>
        <p:nvSpPr>
          <p:cNvPr id="4" name="role0"/>
          <p:cNvSpPr/>
          <p:nvPr/>
        </p:nvSpPr>
        <p:spPr>
          <a:xfrm>
            <a:off x="457200" y="1691640"/>
            <a:ext cx="6583680" cy="1371600"/>
          </a:xfrm>
          <a:prstGeom prst="roundRect">
            <a:avLst>
              <a:gd name="adj" fmla="val 8000"/>
            </a:avLst>
          </a:prstGeom>
          <a:solidFill>
            <a:srgbClr val="F1F4F7"/>
          </a:solidFill>
          <a:ln w="9525">
            <a:solidFill>
              <a:srgbClr val="DDE3EA"/>
            </a:solidFill>
            <a:prstDash val="solid"/>
          </a:ln>
          <a:effectLst>
            <a:outerShdw sx="100000" sy="100000" kx="0" ky="0" algn="bl" rotWithShape="0" blurRad="101600" dist="25400" dir="5400000">
              <a:srgbClr val="000000">
                <a:alpha val="22000"/>
              </a:srgbClr>
            </a:outerShdw>
          </a:effectLst>
        </p:spPr>
      </p:sp>
      <p:sp>
        <p:nvSpPr>
          <p:cNvPr id="5" name="iconcircle"/>
          <p:cNvSpPr/>
          <p:nvPr/>
        </p:nvSpPr>
        <p:spPr>
          <a:xfrm>
            <a:off x="685800" y="2057400"/>
            <a:ext cx="640080" cy="640080"/>
          </a:xfrm>
          <a:prstGeom prst="ellipse">
            <a:avLst/>
          </a:prstGeom>
          <a:solidFill>
            <a:srgbClr val="F2A900"/>
          </a:solidFill>
          <a:ln w="6350">
            <a:solidFill>
              <a:srgbClr val="F2A900"/>
            </a:solidFill>
            <a:prstDash val="solid"/>
          </a:ln>
        </p:spPr>
      </p:sp>
      <p:pic>
        <p:nvPicPr>
          <p:cNvPr id="6" name="Image 0" descr="FaExclamationTriangle">    </p:cNvPr>
          <p:cNvPicPr>
            <a:picLocks noChangeAspect="1"/>
          </p:cNvPicPr>
          <p:nvPr/>
        </p:nvPicPr>
        <p:blipFill>
          <a:blip r:embed="rId1"/>
          <a:stretch>
            <a:fillRect/>
          </a:stretch>
        </p:blipFill>
        <p:spPr>
          <a:xfrm>
            <a:off x="839419" y="2211019"/>
            <a:ext cx="332842" cy="332842"/>
          </a:xfrm>
          <a:prstGeom prst="rect">
            <a:avLst/>
          </a:prstGeom>
        </p:spPr>
      </p:pic>
      <p:sp>
        <p:nvSpPr>
          <p:cNvPr id="7" name="Text 4"/>
          <p:cNvSpPr txBox="1"/>
          <p:nvPr/>
        </p:nvSpPr>
        <p:spPr>
          <a:xfrm>
            <a:off x="1554480" y="1801368"/>
            <a:ext cx="5303520" cy="365760"/>
          </a:xfrm>
          <a:prstGeom prst="rect">
            <a:avLst/>
          </a:prstGeom>
          <a:noFill/>
          <a:ln/>
        </p:spPr>
        <p:txBody>
          <a:bodyPr wrap="square" lIns="0" tIns="0" rIns="0" bIns="0" rtlCol="0" anchor="ctr"/>
          <a:lstStyle/>
          <a:p>
            <a:pPr indent="0" marL="0">
              <a:buNone/>
            </a:pPr>
            <a:r>
              <a:rPr lang="en-US" sz="1800" b="1" dirty="0">
                <a:solidFill>
                  <a:srgbClr val="0E141B"/>
                </a:solidFill>
                <a:latin typeface="Cambria" pitchFamily="34" charset="0"/>
                <a:ea typeface="Cambria" pitchFamily="34" charset="-122"/>
                <a:cs typeface="Cambria" pitchFamily="34" charset="-120"/>
              </a:rPr>
              <a:t>Rules detect</a:t>
            </a:r>
            <a:endParaRPr lang="en-US" sz="1800" dirty="0"/>
          </a:p>
        </p:txBody>
      </p:sp>
      <p:sp>
        <p:nvSpPr>
          <p:cNvPr id="8" name="Text 5"/>
          <p:cNvSpPr txBox="1"/>
          <p:nvPr/>
        </p:nvSpPr>
        <p:spPr>
          <a:xfrm>
            <a:off x="1554480" y="2194560"/>
            <a:ext cx="5303520" cy="777240"/>
          </a:xfrm>
          <a:prstGeom prst="rect">
            <a:avLst/>
          </a:prstGeom>
          <a:noFill/>
          <a:ln/>
        </p:spPr>
        <p:txBody>
          <a:bodyPr wrap="square" lIns="0" tIns="0" rIns="0" bIns="0" rtlCol="0" anchor="t"/>
          <a:lstStyle/>
          <a:p>
            <a:pPr indent="0" marL="0">
              <a:buNone/>
            </a:pPr>
            <a:r>
              <a:rPr lang="en-US" sz="1350" dirty="0">
                <a:solidFill>
                  <a:srgbClr val="5B6775"/>
                </a:solidFill>
                <a:latin typeface="Calibri" pitchFamily="34" charset="0"/>
                <a:ea typeface="Calibri" pitchFamily="34" charset="-122"/>
                <a:cs typeface="Calibri" pitchFamily="34" charset="-120"/>
              </a:rPr>
              <a:t>Transparent SQL scores and thresholds find maintenance, fuel, dispatch and delay risk. Every alert can be audited.</a:t>
            </a:r>
            <a:endParaRPr lang="en-US" sz="1350" dirty="0"/>
          </a:p>
        </p:txBody>
      </p:sp>
      <p:sp>
        <p:nvSpPr>
          <p:cNvPr id="9" name="role1"/>
          <p:cNvSpPr/>
          <p:nvPr/>
        </p:nvSpPr>
        <p:spPr>
          <a:xfrm>
            <a:off x="457200" y="3246120"/>
            <a:ext cx="6583680" cy="1371600"/>
          </a:xfrm>
          <a:prstGeom prst="roundRect">
            <a:avLst>
              <a:gd name="adj" fmla="val 8000"/>
            </a:avLst>
          </a:prstGeom>
          <a:solidFill>
            <a:srgbClr val="F1F4F7"/>
          </a:solidFill>
          <a:ln w="9525">
            <a:solidFill>
              <a:srgbClr val="DDE3EA"/>
            </a:solidFill>
            <a:prstDash val="solid"/>
          </a:ln>
          <a:effectLst>
            <a:outerShdw sx="100000" sy="100000" kx="0" ky="0" algn="bl" rotWithShape="0" blurRad="101600" dist="25400" dir="5400000">
              <a:srgbClr val="000000">
                <a:alpha val="22000"/>
              </a:srgbClr>
            </a:outerShdw>
          </a:effectLst>
        </p:spPr>
      </p:sp>
      <p:sp>
        <p:nvSpPr>
          <p:cNvPr id="10" name="iconcircle"/>
          <p:cNvSpPr/>
          <p:nvPr/>
        </p:nvSpPr>
        <p:spPr>
          <a:xfrm>
            <a:off x="685800" y="3611880"/>
            <a:ext cx="640080" cy="640080"/>
          </a:xfrm>
          <a:prstGeom prst="ellipse">
            <a:avLst/>
          </a:prstGeom>
          <a:solidFill>
            <a:srgbClr val="2EC4B6"/>
          </a:solidFill>
          <a:ln w="6350">
            <a:solidFill>
              <a:srgbClr val="2EC4B6"/>
            </a:solidFill>
            <a:prstDash val="solid"/>
          </a:ln>
        </p:spPr>
      </p:sp>
      <p:pic>
        <p:nvPicPr>
          <p:cNvPr id="11" name="Image 1" descr="FaRobot">    </p:cNvPr>
          <p:cNvPicPr>
            <a:picLocks noChangeAspect="1"/>
          </p:cNvPicPr>
          <p:nvPr/>
        </p:nvPicPr>
        <p:blipFill>
          <a:blip r:embed="rId2"/>
          <a:stretch>
            <a:fillRect/>
          </a:stretch>
        </p:blipFill>
        <p:spPr>
          <a:xfrm>
            <a:off x="839419" y="3765499"/>
            <a:ext cx="332842" cy="332842"/>
          </a:xfrm>
          <a:prstGeom prst="rect">
            <a:avLst/>
          </a:prstGeom>
        </p:spPr>
      </p:pic>
      <p:sp>
        <p:nvSpPr>
          <p:cNvPr id="12" name="Text 8"/>
          <p:cNvSpPr txBox="1"/>
          <p:nvPr/>
        </p:nvSpPr>
        <p:spPr>
          <a:xfrm>
            <a:off x="1554480" y="3355848"/>
            <a:ext cx="5303520" cy="365760"/>
          </a:xfrm>
          <a:prstGeom prst="rect">
            <a:avLst/>
          </a:prstGeom>
          <a:noFill/>
          <a:ln/>
        </p:spPr>
        <p:txBody>
          <a:bodyPr wrap="square" lIns="0" tIns="0" rIns="0" bIns="0" rtlCol="0" anchor="ctr"/>
          <a:lstStyle/>
          <a:p>
            <a:pPr indent="0" marL="0">
              <a:buNone/>
            </a:pPr>
            <a:r>
              <a:rPr lang="en-US" sz="1800" b="1" dirty="0">
                <a:solidFill>
                  <a:srgbClr val="0E141B"/>
                </a:solidFill>
                <a:latin typeface="Cambria" pitchFamily="34" charset="0"/>
                <a:ea typeface="Cambria" pitchFamily="34" charset="-122"/>
                <a:cs typeface="Cambria" pitchFamily="34" charset="-120"/>
              </a:rPr>
              <a:t>AI explains</a:t>
            </a:r>
            <a:endParaRPr lang="en-US" sz="1800" dirty="0"/>
          </a:p>
        </p:txBody>
      </p:sp>
      <p:sp>
        <p:nvSpPr>
          <p:cNvPr id="13" name="Text 9"/>
          <p:cNvSpPr txBox="1"/>
          <p:nvPr/>
        </p:nvSpPr>
        <p:spPr>
          <a:xfrm>
            <a:off x="1554480" y="3749040"/>
            <a:ext cx="5303520" cy="777240"/>
          </a:xfrm>
          <a:prstGeom prst="rect">
            <a:avLst/>
          </a:prstGeom>
          <a:noFill/>
          <a:ln/>
        </p:spPr>
        <p:txBody>
          <a:bodyPr wrap="square" lIns="0" tIns="0" rIns="0" bIns="0" rtlCol="0" anchor="t"/>
          <a:lstStyle/>
          <a:p>
            <a:pPr indent="0" marL="0">
              <a:buNone/>
            </a:pPr>
            <a:r>
              <a:rPr lang="en-US" sz="1350" dirty="0">
                <a:solidFill>
                  <a:srgbClr val="5B6775"/>
                </a:solidFill>
                <a:latin typeface="Calibri" pitchFamily="34" charset="0"/>
                <a:ea typeface="Calibri" pitchFamily="34" charset="-122"/>
                <a:cs typeface="Calibri" pitchFamily="34" charset="-120"/>
              </a:rPr>
              <a:t>Gemini turns the supplied evidence into a plain-language brief and drafts next steps. It cannot lock trucks or change data.</a:t>
            </a:r>
            <a:endParaRPr lang="en-US" sz="1350" dirty="0"/>
          </a:p>
        </p:txBody>
      </p:sp>
      <p:sp>
        <p:nvSpPr>
          <p:cNvPr id="14" name="role2"/>
          <p:cNvSpPr/>
          <p:nvPr/>
        </p:nvSpPr>
        <p:spPr>
          <a:xfrm>
            <a:off x="457200" y="4800600"/>
            <a:ext cx="6583680" cy="1371600"/>
          </a:xfrm>
          <a:prstGeom prst="roundRect">
            <a:avLst>
              <a:gd name="adj" fmla="val 8000"/>
            </a:avLst>
          </a:prstGeom>
          <a:solidFill>
            <a:srgbClr val="F1F4F7"/>
          </a:solidFill>
          <a:ln w="9525">
            <a:solidFill>
              <a:srgbClr val="DDE3EA"/>
            </a:solidFill>
            <a:prstDash val="solid"/>
          </a:ln>
          <a:effectLst>
            <a:outerShdw sx="100000" sy="100000" kx="0" ky="0" algn="bl" rotWithShape="0" blurRad="101600" dist="25400" dir="5400000">
              <a:srgbClr val="000000">
                <a:alpha val="22000"/>
              </a:srgbClr>
            </a:outerShdw>
          </a:effectLst>
        </p:spPr>
      </p:sp>
      <p:sp>
        <p:nvSpPr>
          <p:cNvPr id="15" name="iconcircle"/>
          <p:cNvSpPr/>
          <p:nvPr/>
        </p:nvSpPr>
        <p:spPr>
          <a:xfrm>
            <a:off x="685800" y="5166360"/>
            <a:ext cx="640080" cy="640080"/>
          </a:xfrm>
          <a:prstGeom prst="ellipse">
            <a:avLst/>
          </a:prstGeom>
          <a:solidFill>
            <a:srgbClr val="4A90D9"/>
          </a:solidFill>
          <a:ln w="6350">
            <a:solidFill>
              <a:srgbClr val="4A90D9"/>
            </a:solidFill>
            <a:prstDash val="solid"/>
          </a:ln>
        </p:spPr>
      </p:sp>
      <p:pic>
        <p:nvPicPr>
          <p:cNvPr id="16" name="Image 2" descr="FaUserCheck">    </p:cNvPr>
          <p:cNvPicPr>
            <a:picLocks noChangeAspect="1"/>
          </p:cNvPicPr>
          <p:nvPr/>
        </p:nvPicPr>
        <p:blipFill>
          <a:blip r:embed="rId3"/>
          <a:stretch>
            <a:fillRect/>
          </a:stretch>
        </p:blipFill>
        <p:spPr>
          <a:xfrm>
            <a:off x="839419" y="5319979"/>
            <a:ext cx="332842" cy="332842"/>
          </a:xfrm>
          <a:prstGeom prst="rect">
            <a:avLst/>
          </a:prstGeom>
        </p:spPr>
      </p:pic>
      <p:sp>
        <p:nvSpPr>
          <p:cNvPr id="17" name="Text 12"/>
          <p:cNvSpPr txBox="1"/>
          <p:nvPr/>
        </p:nvSpPr>
        <p:spPr>
          <a:xfrm>
            <a:off x="1554480" y="4910328"/>
            <a:ext cx="5303520" cy="365760"/>
          </a:xfrm>
          <a:prstGeom prst="rect">
            <a:avLst/>
          </a:prstGeom>
          <a:noFill/>
          <a:ln/>
        </p:spPr>
        <p:txBody>
          <a:bodyPr wrap="square" lIns="0" tIns="0" rIns="0" bIns="0" rtlCol="0" anchor="ctr"/>
          <a:lstStyle/>
          <a:p>
            <a:pPr indent="0" marL="0">
              <a:buNone/>
            </a:pPr>
            <a:r>
              <a:rPr lang="en-US" sz="1800" b="1" dirty="0">
                <a:solidFill>
                  <a:srgbClr val="0E141B"/>
                </a:solidFill>
                <a:latin typeface="Cambria" pitchFamily="34" charset="0"/>
                <a:ea typeface="Cambria" pitchFamily="34" charset="-122"/>
                <a:cs typeface="Cambria" pitchFamily="34" charset="-120"/>
              </a:rPr>
              <a:t>People decide</a:t>
            </a:r>
            <a:endParaRPr lang="en-US" sz="1800" dirty="0"/>
          </a:p>
        </p:txBody>
      </p:sp>
      <p:sp>
        <p:nvSpPr>
          <p:cNvPr id="18" name="Text 13"/>
          <p:cNvSpPr txBox="1"/>
          <p:nvPr/>
        </p:nvSpPr>
        <p:spPr>
          <a:xfrm>
            <a:off x="1554480" y="5303520"/>
            <a:ext cx="5303520" cy="777240"/>
          </a:xfrm>
          <a:prstGeom prst="rect">
            <a:avLst/>
          </a:prstGeom>
          <a:noFill/>
          <a:ln/>
        </p:spPr>
        <p:txBody>
          <a:bodyPr wrap="square" lIns="0" tIns="0" rIns="0" bIns="0" rtlCol="0" anchor="t"/>
          <a:lstStyle/>
          <a:p>
            <a:pPr indent="0" marL="0">
              <a:buNone/>
            </a:pPr>
            <a:r>
              <a:rPr lang="en-US" sz="1350" dirty="0">
                <a:solidFill>
                  <a:srgbClr val="5B6775"/>
                </a:solidFill>
                <a:latin typeface="Calibri" pitchFamily="34" charset="0"/>
                <a:ea typeface="Calibri" pitchFamily="34" charset="-122"/>
                <a:cs typeface="Calibri" pitchFamily="34" charset="-120"/>
              </a:rPr>
              <a:t>Fleet manager investigates, maintenance responds, dispatcher checks clearance, and the outcome is recorded.</a:t>
            </a:r>
            <a:endParaRPr lang="en-US" sz="1350" dirty="0"/>
          </a:p>
        </p:txBody>
      </p:sp>
      <p:sp>
        <p:nvSpPr>
          <p:cNvPr id="19" name="scope"/>
          <p:cNvSpPr/>
          <p:nvPr/>
        </p:nvSpPr>
        <p:spPr>
          <a:xfrm>
            <a:off x="7406640" y="1691640"/>
            <a:ext cx="4325112" cy="4480560"/>
          </a:xfrm>
          <a:prstGeom prst="roundRect">
            <a:avLst>
              <a:gd name="adj" fmla="val 2537"/>
            </a:avLst>
          </a:prstGeom>
          <a:solidFill>
            <a:srgbClr val="0E141B"/>
          </a:solidFill>
          <a:ln w="9525">
            <a:solidFill>
              <a:srgbClr val="0E141B"/>
            </a:solidFill>
            <a:prstDash val="solid"/>
          </a:ln>
          <a:effectLst>
            <a:outerShdw sx="100000" sy="100000" kx="0" ky="0" algn="bl" rotWithShape="0" blurRad="101600" dist="25400" dir="5400000">
              <a:srgbClr val="000000">
                <a:alpha val="22000"/>
              </a:srgbClr>
            </a:outerShdw>
          </a:effectLst>
        </p:spPr>
      </p:sp>
      <p:sp>
        <p:nvSpPr>
          <p:cNvPr id="20" name="Text 15"/>
          <p:cNvSpPr txBox="1"/>
          <p:nvPr/>
        </p:nvSpPr>
        <p:spPr>
          <a:xfrm>
            <a:off x="7680960" y="1828800"/>
            <a:ext cx="3749040" cy="320040"/>
          </a:xfrm>
          <a:prstGeom prst="rect">
            <a:avLst/>
          </a:prstGeom>
          <a:noFill/>
          <a:ln/>
        </p:spPr>
        <p:txBody>
          <a:bodyPr wrap="square" lIns="0" tIns="0" rIns="0" bIns="0" rtlCol="0" anchor="ctr"/>
          <a:lstStyle/>
          <a:p>
            <a:pPr indent="0" marL="0">
              <a:buNone/>
            </a:pPr>
            <a:r>
              <a:rPr lang="en-US" sz="1500" b="1" dirty="0">
                <a:solidFill>
                  <a:srgbClr val="F2A900"/>
                </a:solidFill>
                <a:latin typeface="Calibri" pitchFamily="34" charset="0"/>
                <a:ea typeface="Calibri" pitchFamily="34" charset="-122"/>
                <a:cs typeface="Calibri" pitchFamily="34" charset="-120"/>
              </a:rPr>
              <a:t>In scope</a:t>
            </a:r>
            <a:endParaRPr lang="en-US" sz="1500" dirty="0"/>
          </a:p>
        </p:txBody>
      </p:sp>
      <p:sp>
        <p:nvSpPr>
          <p:cNvPr id="21" name="Text 16"/>
          <p:cNvSpPr txBox="1"/>
          <p:nvPr/>
        </p:nvSpPr>
        <p:spPr>
          <a:xfrm>
            <a:off x="7680960" y="2194560"/>
            <a:ext cx="3794760" cy="21031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Telemetry, fault codes, trips, fuel cards, workshop data</a:t>
            </a:r>
            <a:endParaRPr lang="en-US" sz="1400" dirty="0"/>
          </a:p>
          <a:p>
            <a:pPr marL="177800" indent="-1778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Health scoring and 48-hour failure risk</a:t>
            </a:r>
            <a:endParaRPr lang="en-US" sz="1400" dirty="0"/>
          </a:p>
          <a:p>
            <a:pPr marL="177800" indent="-1778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Fuel, dispatch and delivery-delay rules</a:t>
            </a:r>
            <a:endParaRPr lang="en-US" sz="1400" dirty="0"/>
          </a:p>
          <a:p>
            <a:pPr marL="177800" indent="-1778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Gemini email briefs with human follow-up</a:t>
            </a:r>
            <a:endParaRPr lang="en-US" sz="1400" dirty="0"/>
          </a:p>
          <a:p>
            <a:pPr marL="177800" indent="-1778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Power BI command centre</a:t>
            </a:r>
            <a:endParaRPr lang="en-US" sz="1400" dirty="0"/>
          </a:p>
        </p:txBody>
      </p:sp>
      <p:sp>
        <p:nvSpPr>
          <p:cNvPr id="22" name="Text 17"/>
          <p:cNvSpPr txBox="1"/>
          <p:nvPr/>
        </p:nvSpPr>
        <p:spPr>
          <a:xfrm>
            <a:off x="7680960" y="4526280"/>
            <a:ext cx="3749040" cy="320040"/>
          </a:xfrm>
          <a:prstGeom prst="rect">
            <a:avLst/>
          </a:prstGeom>
          <a:noFill/>
          <a:ln/>
        </p:spPr>
        <p:txBody>
          <a:bodyPr wrap="square" lIns="0" tIns="0" rIns="0" bIns="0" rtlCol="0" anchor="ctr"/>
          <a:lstStyle/>
          <a:p>
            <a:pPr indent="0" marL="0">
              <a:buNone/>
            </a:pPr>
            <a:r>
              <a:rPr lang="en-US" sz="1500" b="1" dirty="0">
                <a:solidFill>
                  <a:srgbClr val="8FA3B8"/>
                </a:solidFill>
                <a:latin typeface="Calibri" pitchFamily="34" charset="0"/>
                <a:ea typeface="Calibri" pitchFamily="34" charset="-122"/>
                <a:cs typeface="Calibri" pitchFamily="34" charset="-120"/>
              </a:rPr>
              <a:t>Out of scope</a:t>
            </a:r>
            <a:endParaRPr lang="en-US" sz="1500" dirty="0"/>
          </a:p>
        </p:txBody>
      </p:sp>
      <p:sp>
        <p:nvSpPr>
          <p:cNvPr id="23" name="Text 18"/>
          <p:cNvSpPr txBox="1"/>
          <p:nvPr/>
        </p:nvSpPr>
        <p:spPr>
          <a:xfrm>
            <a:off x="7680960" y="4892040"/>
            <a:ext cx="3794760" cy="1097280"/>
          </a:xfrm>
          <a:prstGeom prst="rect">
            <a:avLst/>
          </a:prstGeom>
          <a:noFill/>
          <a:ln/>
        </p:spPr>
        <p:txBody>
          <a:bodyPr wrap="square" lIns="0" tIns="0" rIns="0" bIns="0" rtlCol="0" anchor="t"/>
          <a:lstStyle/>
          <a:p>
            <a:pPr indent="0" marL="0">
              <a:buNone/>
            </a:pPr>
            <a:r>
              <a:rPr lang="en-US" sz="1400" dirty="0">
                <a:solidFill>
                  <a:srgbClr val="C9D3DE"/>
                </a:solidFill>
                <a:latin typeface="Calibri" pitchFamily="34" charset="0"/>
                <a:ea typeface="Calibri" pitchFamily="34" charset="-122"/>
                <a:cs typeface="Calibri" pitchFamily="34" charset="-120"/>
              </a:rPr>
              <a:t>Tyre management, route optimisation, driver behaviour beyond idling</a:t>
            </a:r>
            <a:endParaRPr lang="en-US" sz="14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200" b="1" spc="300" kern="0" dirty="0">
                <a:solidFill>
                  <a:srgbClr val="F2A900"/>
                </a:solidFill>
                <a:latin typeface="Calibri" pitchFamily="34" charset="0"/>
                <a:ea typeface="Calibri" pitchFamily="34" charset="-122"/>
                <a:cs typeface="Calibri" pitchFamily="34" charset="-120"/>
              </a:rPr>
              <a:t>WHAT SUCCESS LOOKS LIKE</a:t>
            </a:r>
            <a:endParaRPr lang="en-US" sz="1200" dirty="0"/>
          </a:p>
        </p:txBody>
      </p:sp>
      <p:sp>
        <p:nvSpPr>
          <p:cNvPr id="3" name="Text 0"/>
          <p:cNvSpPr/>
          <p:nvPr>
            <p:ph idx="100" type="title" hasCustomPrompt="1"/>
          </p:nvPr>
        </p:nvSpPr>
        <p:spPr>
          <a:xfrm>
            <a:off x="457200" y="566928"/>
            <a:ext cx="11247120" cy="914400"/>
          </a:xfrm>
          <a:prstGeom prst="rect">
            <a:avLst/>
          </a:prstGeom>
          <a:noFill/>
          <a:ln/>
        </p:spPr>
        <p:txBody>
          <a:bodyPr wrap="square" lIns="0" tIns="0" rIns="0" bIns="0" rtlCol="0" anchor="t"/>
          <a:lstStyle/>
          <a:p>
            <a:pPr algn="l" indent="0" marL="0">
              <a:buNone/>
            </a:pPr>
            <a:r>
              <a:rPr lang="en-US" sz="3000" b="1" dirty="0">
                <a:solidFill>
                  <a:srgbClr val="FFFFFF"/>
                </a:solidFill>
                <a:latin typeface="Cambria" pitchFamily="34" charset="0"/>
                <a:ea typeface="Cambria" pitchFamily="34" charset="-122"/>
                <a:cs typeface="Cambria" pitchFamily="34" charset="-120"/>
              </a:rPr>
              <a:t>Every risk explained, owned and closed before the truck leaves the yard</a:t>
            </a:r>
            <a:endParaRPr lang="en-US" sz="3000" dirty="0"/>
          </a:p>
        </p:txBody>
      </p:sp>
      <p:sp>
        <p:nvSpPr>
          <p:cNvPr id="4" name="out0"/>
          <p:cNvSpPr/>
          <p:nvPr/>
        </p:nvSpPr>
        <p:spPr>
          <a:xfrm>
            <a:off x="457200" y="2103120"/>
            <a:ext cx="3611880" cy="2926080"/>
          </a:xfrm>
          <a:prstGeom prst="roundRect">
            <a:avLst>
              <a:gd name="adj" fmla="val 3750"/>
            </a:avLst>
          </a:prstGeom>
          <a:solidFill>
            <a:srgbClr val="1F2B39"/>
          </a:solidFill>
          <a:ln w="9525">
            <a:solidFill>
              <a:srgbClr val="33465A"/>
            </a:solidFill>
            <a:prstDash val="solid"/>
          </a:ln>
          <a:effectLst>
            <a:outerShdw sx="100000" sy="100000" kx="0" ky="0" algn="bl" rotWithShape="0" blurRad="101600" dist="25400" dir="5400000">
              <a:srgbClr val="000000">
                <a:alpha val="22000"/>
              </a:srgbClr>
            </a:outerShdw>
          </a:effectLst>
        </p:spPr>
      </p:sp>
      <p:sp>
        <p:nvSpPr>
          <p:cNvPr id="5" name="iconcircle"/>
          <p:cNvSpPr/>
          <p:nvPr/>
        </p:nvSpPr>
        <p:spPr>
          <a:xfrm>
            <a:off x="731520" y="2331720"/>
            <a:ext cx="548640" cy="548640"/>
          </a:xfrm>
          <a:prstGeom prst="ellipse">
            <a:avLst/>
          </a:prstGeom>
          <a:solidFill>
            <a:srgbClr val="F2A900">
              <a:alpha val="15000"/>
            </a:srgbClr>
          </a:solidFill>
          <a:ln w="6350">
            <a:solidFill>
              <a:srgbClr val="F2A900">
                <a:alpha val="15000"/>
              </a:srgbClr>
            </a:solidFill>
            <a:prstDash val="solid"/>
          </a:ln>
        </p:spPr>
      </p:sp>
      <p:pic>
        <p:nvPicPr>
          <p:cNvPr id="6" name="Image 0" descr="FaTruck">    </p:cNvPr>
          <p:cNvPicPr>
            <a:picLocks noChangeAspect="1"/>
          </p:cNvPicPr>
          <p:nvPr/>
        </p:nvPicPr>
        <p:blipFill>
          <a:blip r:embed="rId1"/>
          <a:stretch>
            <a:fillRect/>
          </a:stretch>
        </p:blipFill>
        <p:spPr>
          <a:xfrm>
            <a:off x="863194" y="2463394"/>
            <a:ext cx="285293" cy="285293"/>
          </a:xfrm>
          <a:prstGeom prst="rect">
            <a:avLst/>
          </a:prstGeom>
        </p:spPr>
      </p:pic>
      <p:sp>
        <p:nvSpPr>
          <p:cNvPr id="7" name="Text 4"/>
          <p:cNvSpPr txBox="1"/>
          <p:nvPr/>
        </p:nvSpPr>
        <p:spPr>
          <a:xfrm>
            <a:off x="731520" y="3017520"/>
            <a:ext cx="3108960" cy="1005840"/>
          </a:xfrm>
          <a:prstGeom prst="rect">
            <a:avLst/>
          </a:prstGeom>
          <a:noFill/>
          <a:ln/>
        </p:spPr>
        <p:txBody>
          <a:bodyPr wrap="square" lIns="0" tIns="0" rIns="0" bIns="0" rtlCol="0" anchor="ctr"/>
          <a:lstStyle/>
          <a:p>
            <a:pPr indent="0" marL="0">
              <a:buNone/>
            </a:pPr>
            <a:r>
              <a:rPr lang="en-US" sz="5800" b="1" dirty="0">
                <a:solidFill>
                  <a:srgbClr val="F2A900"/>
                </a:solidFill>
                <a:latin typeface="Cambria" pitchFamily="34" charset="0"/>
                <a:ea typeface="Cambria" pitchFamily="34" charset="-122"/>
                <a:cs typeface="Cambria" pitchFamily="34" charset="-120"/>
              </a:rPr>
              <a:t>0</a:t>
            </a:r>
            <a:endParaRPr lang="en-US" sz="5800" dirty="0"/>
          </a:p>
        </p:txBody>
      </p:sp>
      <p:sp>
        <p:nvSpPr>
          <p:cNvPr id="8" name="Text 5"/>
          <p:cNvSpPr txBox="1"/>
          <p:nvPr/>
        </p:nvSpPr>
        <p:spPr>
          <a:xfrm>
            <a:off x="731520" y="4069080"/>
            <a:ext cx="3108960" cy="7315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Critical-fault dispatches</a:t>
            </a:r>
            <a:endParaRPr lang="en-US" sz="1600" dirty="0"/>
          </a:p>
        </p:txBody>
      </p:sp>
      <p:sp>
        <p:nvSpPr>
          <p:cNvPr id="9" name="out1"/>
          <p:cNvSpPr/>
          <p:nvPr/>
        </p:nvSpPr>
        <p:spPr>
          <a:xfrm>
            <a:off x="4279392" y="2103120"/>
            <a:ext cx="3611880" cy="2926080"/>
          </a:xfrm>
          <a:prstGeom prst="roundRect">
            <a:avLst>
              <a:gd name="adj" fmla="val 3750"/>
            </a:avLst>
          </a:prstGeom>
          <a:solidFill>
            <a:srgbClr val="1F2B39"/>
          </a:solidFill>
          <a:ln w="9525">
            <a:solidFill>
              <a:srgbClr val="33465A"/>
            </a:solidFill>
            <a:prstDash val="solid"/>
          </a:ln>
          <a:effectLst>
            <a:outerShdw sx="100000" sy="100000" kx="0" ky="0" algn="bl" rotWithShape="0" blurRad="101600" dist="25400" dir="5400000">
              <a:srgbClr val="000000">
                <a:alpha val="22000"/>
              </a:srgbClr>
            </a:outerShdw>
          </a:effectLst>
        </p:spPr>
      </p:sp>
      <p:sp>
        <p:nvSpPr>
          <p:cNvPr id="10" name="iconcircle"/>
          <p:cNvSpPr/>
          <p:nvPr/>
        </p:nvSpPr>
        <p:spPr>
          <a:xfrm>
            <a:off x="4553712" y="2331720"/>
            <a:ext cx="548640" cy="548640"/>
          </a:xfrm>
          <a:prstGeom prst="ellipse">
            <a:avLst/>
          </a:prstGeom>
          <a:solidFill>
            <a:srgbClr val="F2A900">
              <a:alpha val="15000"/>
            </a:srgbClr>
          </a:solidFill>
          <a:ln w="6350">
            <a:solidFill>
              <a:srgbClr val="F2A900">
                <a:alpha val="15000"/>
              </a:srgbClr>
            </a:solidFill>
            <a:prstDash val="solid"/>
          </a:ln>
        </p:spPr>
      </p:sp>
      <p:pic>
        <p:nvPicPr>
          <p:cNvPr id="11" name="Image 1" descr="FaClock">    </p:cNvPr>
          <p:cNvPicPr>
            <a:picLocks noChangeAspect="1"/>
          </p:cNvPicPr>
          <p:nvPr/>
        </p:nvPicPr>
        <p:blipFill>
          <a:blip r:embed="rId2"/>
          <a:stretch>
            <a:fillRect/>
          </a:stretch>
        </p:blipFill>
        <p:spPr>
          <a:xfrm>
            <a:off x="4685386" y="2463394"/>
            <a:ext cx="285293" cy="285293"/>
          </a:xfrm>
          <a:prstGeom prst="rect">
            <a:avLst/>
          </a:prstGeom>
        </p:spPr>
      </p:pic>
      <p:sp>
        <p:nvSpPr>
          <p:cNvPr id="12" name="Text 8"/>
          <p:cNvSpPr txBox="1"/>
          <p:nvPr/>
        </p:nvSpPr>
        <p:spPr>
          <a:xfrm>
            <a:off x="4553712" y="3017520"/>
            <a:ext cx="3108960" cy="1005840"/>
          </a:xfrm>
          <a:prstGeom prst="rect">
            <a:avLst/>
          </a:prstGeom>
          <a:noFill/>
          <a:ln/>
        </p:spPr>
        <p:txBody>
          <a:bodyPr wrap="square" lIns="0" tIns="0" rIns="0" bIns="0" rtlCol="0" anchor="ctr"/>
          <a:lstStyle/>
          <a:p>
            <a:pPr indent="0" marL="0">
              <a:buNone/>
            </a:pPr>
            <a:r>
              <a:rPr lang="en-US" sz="5800" b="1" dirty="0">
                <a:solidFill>
                  <a:srgbClr val="F2A900"/>
                </a:solidFill>
                <a:latin typeface="Cambria" pitchFamily="34" charset="0"/>
                <a:ea typeface="Cambria" pitchFamily="34" charset="-122"/>
                <a:cs typeface="Cambria" pitchFamily="34" charset="-120"/>
              </a:rPr>
              <a:t>&lt;4 h</a:t>
            </a:r>
            <a:endParaRPr lang="en-US" sz="5800" dirty="0"/>
          </a:p>
        </p:txBody>
      </p:sp>
      <p:sp>
        <p:nvSpPr>
          <p:cNvPr id="13" name="Text 9"/>
          <p:cNvSpPr txBox="1"/>
          <p:nvPr/>
        </p:nvSpPr>
        <p:spPr>
          <a:xfrm>
            <a:off x="4553712" y="4069080"/>
            <a:ext cx="3108960" cy="7315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From alert to recorded decision</a:t>
            </a:r>
            <a:endParaRPr lang="en-US" sz="1600" dirty="0"/>
          </a:p>
        </p:txBody>
      </p:sp>
      <p:sp>
        <p:nvSpPr>
          <p:cNvPr id="14" name="out2"/>
          <p:cNvSpPr/>
          <p:nvPr/>
        </p:nvSpPr>
        <p:spPr>
          <a:xfrm>
            <a:off x="8101584" y="2103120"/>
            <a:ext cx="3611880" cy="2926080"/>
          </a:xfrm>
          <a:prstGeom prst="roundRect">
            <a:avLst>
              <a:gd name="adj" fmla="val 3750"/>
            </a:avLst>
          </a:prstGeom>
          <a:solidFill>
            <a:srgbClr val="1F2B39"/>
          </a:solidFill>
          <a:ln w="9525">
            <a:solidFill>
              <a:srgbClr val="33465A"/>
            </a:solidFill>
            <a:prstDash val="solid"/>
          </a:ln>
          <a:effectLst>
            <a:outerShdw sx="100000" sy="100000" kx="0" ky="0" algn="bl" rotWithShape="0" blurRad="101600" dist="25400" dir="5400000">
              <a:srgbClr val="000000">
                <a:alpha val="22000"/>
              </a:srgbClr>
            </a:outerShdw>
          </a:effectLst>
        </p:spPr>
      </p:sp>
      <p:sp>
        <p:nvSpPr>
          <p:cNvPr id="15" name="iconcircle"/>
          <p:cNvSpPr/>
          <p:nvPr/>
        </p:nvSpPr>
        <p:spPr>
          <a:xfrm>
            <a:off x="8375904" y="2331720"/>
            <a:ext cx="548640" cy="548640"/>
          </a:xfrm>
          <a:prstGeom prst="ellipse">
            <a:avLst/>
          </a:prstGeom>
          <a:solidFill>
            <a:srgbClr val="F2A900">
              <a:alpha val="15000"/>
            </a:srgbClr>
          </a:solidFill>
          <a:ln w="6350">
            <a:solidFill>
              <a:srgbClr val="F2A900">
                <a:alpha val="15000"/>
              </a:srgbClr>
            </a:solidFill>
            <a:prstDash val="solid"/>
          </a:ln>
        </p:spPr>
      </p:sp>
      <p:pic>
        <p:nvPicPr>
          <p:cNvPr id="16" name="Image 2" descr="FaUserCheck">    </p:cNvPr>
          <p:cNvPicPr>
            <a:picLocks noChangeAspect="1"/>
          </p:cNvPicPr>
          <p:nvPr/>
        </p:nvPicPr>
        <p:blipFill>
          <a:blip r:embed="rId3"/>
          <a:stretch>
            <a:fillRect/>
          </a:stretch>
        </p:blipFill>
        <p:spPr>
          <a:xfrm>
            <a:off x="8507578" y="2463394"/>
            <a:ext cx="285293" cy="285293"/>
          </a:xfrm>
          <a:prstGeom prst="rect">
            <a:avLst/>
          </a:prstGeom>
        </p:spPr>
      </p:pic>
      <p:sp>
        <p:nvSpPr>
          <p:cNvPr id="17" name="Text 12"/>
          <p:cNvSpPr txBox="1"/>
          <p:nvPr/>
        </p:nvSpPr>
        <p:spPr>
          <a:xfrm>
            <a:off x="8375904" y="3017520"/>
            <a:ext cx="3108960" cy="1005840"/>
          </a:xfrm>
          <a:prstGeom prst="rect">
            <a:avLst/>
          </a:prstGeom>
          <a:noFill/>
          <a:ln/>
        </p:spPr>
        <p:txBody>
          <a:bodyPr wrap="square" lIns="0" tIns="0" rIns="0" bIns="0" rtlCol="0" anchor="ctr"/>
          <a:lstStyle/>
          <a:p>
            <a:pPr indent="0" marL="0">
              <a:buNone/>
            </a:pPr>
            <a:r>
              <a:rPr lang="en-US" sz="5800" b="1" dirty="0">
                <a:solidFill>
                  <a:srgbClr val="F2A900"/>
                </a:solidFill>
                <a:latin typeface="Cambria" pitchFamily="34" charset="0"/>
                <a:ea typeface="Cambria" pitchFamily="34" charset="-122"/>
                <a:cs typeface="Cambria" pitchFamily="34" charset="-120"/>
              </a:rPr>
              <a:t>95%+</a:t>
            </a:r>
            <a:endParaRPr lang="en-US" sz="5800" dirty="0"/>
          </a:p>
        </p:txBody>
      </p:sp>
      <p:sp>
        <p:nvSpPr>
          <p:cNvPr id="18" name="Text 13"/>
          <p:cNvSpPr txBox="1"/>
          <p:nvPr/>
        </p:nvSpPr>
        <p:spPr>
          <a:xfrm>
            <a:off x="8375904" y="4069080"/>
            <a:ext cx="3108960" cy="7315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Alerts with a recorded outcome</a:t>
            </a:r>
            <a:endParaRPr lang="en-US" sz="1600" dirty="0"/>
          </a:p>
        </p:txBody>
      </p:sp>
      <p:sp>
        <p:nvSpPr>
          <p:cNvPr id="19" name="Text 14"/>
          <p:cNvSpPr txBox="1"/>
          <p:nvPr/>
        </p:nvSpPr>
        <p:spPr>
          <a:xfrm>
            <a:off x="457200" y="5440680"/>
            <a:ext cx="11247120" cy="457200"/>
          </a:xfrm>
          <a:prstGeom prst="rect">
            <a:avLst/>
          </a:prstGeom>
          <a:noFill/>
          <a:ln/>
        </p:spPr>
        <p:txBody>
          <a:bodyPr wrap="square" lIns="0" tIns="0" rIns="0" bIns="0" rtlCol="0" anchor="ctr"/>
          <a:lstStyle/>
          <a:p>
            <a:pPr indent="0" marL="0">
              <a:buNone/>
            </a:pPr>
            <a:r>
              <a:rPr lang="en-US" sz="1600" i="1" dirty="0">
                <a:solidFill>
                  <a:srgbClr val="8FA3B8"/>
                </a:solidFill>
                <a:latin typeface="Calibri" pitchFamily="34" charset="0"/>
                <a:ea typeface="Calibri" pitchFamily="34" charset="-122"/>
                <a:cs typeface="Calibri" pitchFamily="34" charset="-120"/>
              </a:rPr>
              <a:t>Built on Databricks, SQL risk rules, Power BI, n8n and Gemini.</a:t>
            </a:r>
            <a:endParaRPr lang="en-US" sz="16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Ndovu Haulage">
  <a:themeElements>
    <a:clrScheme name="Ndovu Haulage">
      <a:dk1>
        <a:srgbClr val="0E141B"/>
      </a:dk1>
      <a:lt1>
        <a:srgbClr val="FFFFFF"/>
      </a:lt1>
      <a:dk2>
        <a:srgbClr val="1F2B39"/>
      </a:dk2>
      <a:lt2>
        <a:srgbClr val="F1F4F7"/>
      </a:lt2>
      <a:accent1>
        <a:srgbClr val="F2A900"/>
      </a:accent1>
      <a:accent2>
        <a:srgbClr val="E4572E"/>
      </a:accent2>
      <a:accent3>
        <a:srgbClr val="2EC4B6"/>
      </a:accent3>
      <a:accent4>
        <a:srgbClr val="4A90D9"/>
      </a:accent4>
      <a:accent5>
        <a:srgbClr val="8FA3B8"/>
      </a:accent5>
      <a:accent6>
        <a:srgbClr val="7BC47F"/>
      </a:accent6>
      <a:hlink>
        <a:srgbClr val="4A90D9"/>
      </a:hlink>
      <a:folHlink>
        <a:srgbClr val="8FA3B8"/>
      </a:folHlink>
    </a:clrScheme>
    <a:fontScheme name="Ndovu Haula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Ndovu Haulage - Fleet Risk Command Centre - Problem Statement</dc:title>
  <dc:subject>PptxGenJS Presentation</dc:subject>
  <dc:creator>PptxGenJS</dc:creator>
  <cp:lastModifiedBy>PptxGenJS</cp:lastModifiedBy>
  <cp:revision>1</cp:revision>
  <dcterms:created xsi:type="dcterms:W3CDTF">2026-10-15T23:27:25Z</dcterms:created>
  <dcterms:modified xsi:type="dcterms:W3CDTF">2026-10-15T23:27:25Z</dcterms:modified>
</cp:coreProperties>
</file>